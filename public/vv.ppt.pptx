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60" r:id="rId5"/>
    <p:sldId id="264" r:id="rId6"/>
    <p:sldId id="266" r:id="rId7"/>
    <p:sldId id="267" r:id="rId8"/>
    <p:sldId id="265" r:id="rId9"/>
  </p:sldIdLst>
  <p:sldSz cx="18288000" cy="10287000"/>
  <p:notesSz cx="6858000" cy="9144000"/>
  <p:embeddedFontLst>
    <p:embeddedFont>
      <p:font typeface="Agrandir Bold" panose="020B0604020202020204" charset="0"/>
      <p:regular r:id="rId11"/>
    </p:embeddedFont>
    <p:embeddedFont>
      <p:font typeface="Algerian" panose="04020705040A02060702" pitchFamily="82" charset="0"/>
      <p:regular r:id="rId12"/>
    </p:embeddedFont>
    <p:embeddedFont>
      <p:font typeface="Arial Rounded MT Bold" panose="020F0704030504030204" pitchFamily="34" charset="0"/>
      <p:regular r:id="rId13"/>
    </p:embeddedFont>
    <p:embeddedFont>
      <p:font typeface="Bodoni MT" panose="02070603080606020203" pitchFamily="18" charset="0"/>
      <p:regular r:id="rId14"/>
      <p:bold r:id="rId15"/>
      <p:italic r:id="rId16"/>
      <p:boldItalic r:id="rId17"/>
    </p:embeddedFont>
    <p:embeddedFont>
      <p:font typeface="Californian FB" panose="0207040306080B030204" pitchFamily="18" charset="0"/>
      <p:regular r:id="rId18"/>
      <p:bold r:id="rId19"/>
      <p:italic r:id="rId20"/>
    </p:embeddedFont>
    <p:embeddedFont>
      <p:font typeface="Canva Sans Bold" panose="020B0604020202020204" charset="0"/>
      <p:regular r:id="rId21"/>
    </p:embeddedFont>
    <p:embeddedFont>
      <p:font typeface="Engravers MT" panose="02090707080505020304" pitchFamily="18" charset="0"/>
      <p:regular r:id="rId22"/>
    </p:embeddedFont>
    <p:embeddedFont>
      <p:font typeface="Franklin Gothic Demi" panose="020B0703020102020204" pitchFamily="34" charset="0"/>
      <p:regular r:id="rId23"/>
      <p:italic r:id="rId24"/>
    </p:embeddedFont>
    <p:embeddedFont>
      <p:font typeface="Maiandra GD" panose="020E0502030308020204" pitchFamily="34" charset="0"/>
      <p:regular r:id="rId25"/>
    </p:embeddedFont>
    <p:embeddedFont>
      <p:font typeface="Perpetua Titling MT" panose="02020502060505020804" pitchFamily="18" charset="0"/>
      <p:regular r:id="rId26"/>
      <p:bold r:id="rId27"/>
    </p:embeddedFont>
    <p:embeddedFont>
      <p:font typeface="Poppins" panose="00000500000000000000" pitchFamily="2" charset="0"/>
      <p:regular r:id="rId28"/>
      <p:bold r:id="rId29"/>
      <p:italic r:id="rId30"/>
      <p:boldItalic r:id="rId31"/>
    </p:embeddedFont>
    <p:embeddedFont>
      <p:font typeface="Poppins Bold" panose="00000800000000000000" charset="0"/>
      <p:regular r:id="rId32"/>
    </p:embeddedFont>
    <p:embeddedFont>
      <p:font typeface="Poppins Medium" panose="00000600000000000000" pitchFamily="2" charset="0"/>
      <p:regular r:id="rId33"/>
      <p:italic r:id="rId34"/>
    </p:embeddedFont>
    <p:embeddedFont>
      <p:font typeface="Rockwell" panose="02060603020205020403" pitchFamily="18"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66" y="21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9" Type="http://schemas.openxmlformats.org/officeDocument/2006/relationships/presProps" Target="presProps.xml"/><Relationship Id="rId21" Type="http://schemas.openxmlformats.org/officeDocument/2006/relationships/font" Target="fonts/font11.fntdata"/><Relationship Id="rId34" Type="http://schemas.openxmlformats.org/officeDocument/2006/relationships/font" Target="fonts/font2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font" Target="fonts/font19.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font" Target="fonts/font22.fntdata"/><Relationship Id="rId37" Type="http://schemas.openxmlformats.org/officeDocument/2006/relationships/font" Target="fonts/font2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36" Type="http://schemas.openxmlformats.org/officeDocument/2006/relationships/font" Target="fonts/font26.fntdata"/><Relationship Id="rId10" Type="http://schemas.openxmlformats.org/officeDocument/2006/relationships/notesMaster" Target="notesMasters/notesMaster1.xml"/><Relationship Id="rId19" Type="http://schemas.openxmlformats.org/officeDocument/2006/relationships/font" Target="fonts/font9.fntdata"/><Relationship Id="rId31"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font" Target="fonts/font20.fntdata"/><Relationship Id="rId35" Type="http://schemas.openxmlformats.org/officeDocument/2006/relationships/font" Target="fonts/font2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font" Target="fonts/font23.fntdata"/><Relationship Id="rId38" Type="http://schemas.openxmlformats.org/officeDocument/2006/relationships/font" Target="fonts/font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DE7BFB-F2C5-4748-B30C-267E38172396}" type="datetimeFigureOut">
              <a:rPr lang="en-IN" smtClean="0"/>
              <a:t>08-11-2025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BDA968-FA0B-478B-892B-3B15C6EAB620}" type="slidenum">
              <a:rPr lang="en-IN" smtClean="0"/>
              <a:t>‹#›</a:t>
            </a:fld>
            <a:endParaRPr lang="en-IN"/>
          </a:p>
        </p:txBody>
      </p:sp>
    </p:spTree>
    <p:extLst>
      <p:ext uri="{BB962C8B-B14F-4D97-AF65-F5344CB8AC3E}">
        <p14:creationId xmlns:p14="http://schemas.microsoft.com/office/powerpoint/2010/main" val="462645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BDA968-FA0B-478B-892B-3B15C6EAB620}" type="slidenum">
              <a:rPr lang="en-IN" smtClean="0"/>
              <a:t>1</a:t>
            </a:fld>
            <a:endParaRPr lang="en-IN"/>
          </a:p>
        </p:txBody>
      </p:sp>
    </p:spTree>
    <p:extLst>
      <p:ext uri="{BB962C8B-B14F-4D97-AF65-F5344CB8AC3E}">
        <p14:creationId xmlns:p14="http://schemas.microsoft.com/office/powerpoint/2010/main" val="768669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sv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svg"/><Relationship Id="rId5" Type="http://schemas.openxmlformats.org/officeDocument/2006/relationships/image" Target="../media/image4.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9EC">
                <a:alpha val="100000"/>
              </a:srgbClr>
            </a:gs>
            <a:gs pos="100000">
              <a:srgbClr val="FFF9EC">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400000" flipV="1">
            <a:off x="-2881555" y="2056056"/>
            <a:ext cx="11424619" cy="5712310"/>
          </a:xfrm>
          <a:custGeom>
            <a:avLst/>
            <a:gdLst/>
            <a:ahLst/>
            <a:cxnLst/>
            <a:rect l="l" t="t" r="r" b="b"/>
            <a:pathLst>
              <a:path w="11424619" h="5712310">
                <a:moveTo>
                  <a:pt x="0" y="5712310"/>
                </a:moveTo>
                <a:lnTo>
                  <a:pt x="11424619" y="5712310"/>
                </a:lnTo>
                <a:lnTo>
                  <a:pt x="11424619" y="0"/>
                </a:lnTo>
                <a:lnTo>
                  <a:pt x="0" y="0"/>
                </a:lnTo>
                <a:lnTo>
                  <a:pt x="0" y="571231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rot="5400000">
            <a:off x="12209345" y="-2112244"/>
            <a:ext cx="3822785" cy="382278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13" name="TextBox 13"/>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14" name="Freeform 14"/>
          <p:cNvSpPr/>
          <p:nvPr/>
        </p:nvSpPr>
        <p:spPr>
          <a:xfrm flipV="1">
            <a:off x="12668635" y="-322189"/>
            <a:ext cx="2904205" cy="1452103"/>
          </a:xfrm>
          <a:custGeom>
            <a:avLst/>
            <a:gdLst/>
            <a:ahLst/>
            <a:cxnLst/>
            <a:rect l="l" t="t" r="r" b="b"/>
            <a:pathLst>
              <a:path w="2904205" h="1452103">
                <a:moveTo>
                  <a:pt x="0" y="1452102"/>
                </a:moveTo>
                <a:lnTo>
                  <a:pt x="2904206" y="1452102"/>
                </a:lnTo>
                <a:lnTo>
                  <a:pt x="2904206" y="0"/>
                </a:lnTo>
                <a:lnTo>
                  <a:pt x="0" y="0"/>
                </a:lnTo>
                <a:lnTo>
                  <a:pt x="0" y="145210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rot="5400000">
            <a:off x="13674384" y="1219536"/>
            <a:ext cx="892708" cy="892708"/>
          </a:xfrm>
          <a:custGeom>
            <a:avLst/>
            <a:gdLst/>
            <a:ahLst/>
            <a:cxnLst/>
            <a:rect l="l" t="t" r="r" b="b"/>
            <a:pathLst>
              <a:path w="892708" h="892708">
                <a:moveTo>
                  <a:pt x="0" y="0"/>
                </a:moveTo>
                <a:lnTo>
                  <a:pt x="892708" y="0"/>
                </a:lnTo>
                <a:lnTo>
                  <a:pt x="892708" y="892708"/>
                </a:lnTo>
                <a:lnTo>
                  <a:pt x="0" y="8927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6" name="Group 16"/>
          <p:cNvGrpSpPr/>
          <p:nvPr/>
        </p:nvGrpSpPr>
        <p:grpSpPr>
          <a:xfrm rot="-5400000">
            <a:off x="8167745" y="8710951"/>
            <a:ext cx="2984268" cy="298426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18" name="TextBox 18"/>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19" name="Freeform 19"/>
          <p:cNvSpPr/>
          <p:nvPr/>
        </p:nvSpPr>
        <p:spPr>
          <a:xfrm rot="-10800000" flipV="1">
            <a:off x="8526291" y="9164220"/>
            <a:ext cx="2267177" cy="1133588"/>
          </a:xfrm>
          <a:custGeom>
            <a:avLst/>
            <a:gdLst/>
            <a:ahLst/>
            <a:cxnLst/>
            <a:rect l="l" t="t" r="r" b="b"/>
            <a:pathLst>
              <a:path w="2267177" h="1133588">
                <a:moveTo>
                  <a:pt x="0" y="1133589"/>
                </a:moveTo>
                <a:lnTo>
                  <a:pt x="2267177" y="1133589"/>
                </a:lnTo>
                <a:lnTo>
                  <a:pt x="2267177" y="0"/>
                </a:lnTo>
                <a:lnTo>
                  <a:pt x="0" y="0"/>
                </a:lnTo>
                <a:lnTo>
                  <a:pt x="0" y="1133589"/>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rot="-5400000">
            <a:off x="9311432" y="8397361"/>
            <a:ext cx="696895" cy="696895"/>
          </a:xfrm>
          <a:custGeom>
            <a:avLst/>
            <a:gdLst/>
            <a:ahLst/>
            <a:cxnLst/>
            <a:rect l="l" t="t" r="r" b="b"/>
            <a:pathLst>
              <a:path w="696895" h="696895">
                <a:moveTo>
                  <a:pt x="0" y="0"/>
                </a:moveTo>
                <a:lnTo>
                  <a:pt x="696895" y="0"/>
                </a:lnTo>
                <a:lnTo>
                  <a:pt x="696895" y="696895"/>
                </a:lnTo>
                <a:lnTo>
                  <a:pt x="0" y="6968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5" name="TextBox 24">
            <a:extLst>
              <a:ext uri="{FF2B5EF4-FFF2-40B4-BE49-F238E27FC236}">
                <a16:creationId xmlns:a16="http://schemas.microsoft.com/office/drawing/2014/main" id="{EE23C968-69DB-7D50-F5F0-1F32DF15306D}"/>
              </a:ext>
            </a:extLst>
          </p:cNvPr>
          <p:cNvSpPr txBox="1"/>
          <p:nvPr/>
        </p:nvSpPr>
        <p:spPr>
          <a:xfrm>
            <a:off x="6337275" y="2810731"/>
            <a:ext cx="8610600" cy="1754326"/>
          </a:xfrm>
          <a:prstGeom prst="rect">
            <a:avLst/>
          </a:prstGeom>
          <a:noFill/>
        </p:spPr>
        <p:txBody>
          <a:bodyPr wrap="square" rtlCol="0">
            <a:spAutoFit/>
          </a:bodyPr>
          <a:lstStyle/>
          <a:p>
            <a:r>
              <a:rPr lang="en-US" sz="5400" dirty="0">
                <a:ln w="0"/>
                <a:effectLst>
                  <a:outerShdw blurRad="38100" dist="19050" dir="2700000" algn="tl" rotWithShape="0">
                    <a:schemeClr val="dk1">
                      <a:alpha val="40000"/>
                    </a:schemeClr>
                  </a:outerShdw>
                </a:effectLst>
                <a:latin typeface="Arial Rounded MT Bold" panose="020F0704030504030204" pitchFamily="34" charset="0"/>
              </a:rPr>
              <a:t>Adventure Awaits </a:t>
            </a:r>
            <a:r>
              <a:rPr lang="en-US" sz="5400" dirty="0">
                <a:latin typeface="Arial Rounded MT Bold" panose="020F0704030504030204" pitchFamily="34" charset="0"/>
              </a:rPr>
              <a:t>:</a:t>
            </a:r>
          </a:p>
          <a:p>
            <a:r>
              <a:rPr lang="en-US" sz="5400" dirty="0">
                <a:latin typeface="Arial Rounded MT Bold" panose="020F0704030504030204" pitchFamily="34" charset="0"/>
              </a:rPr>
              <a:t> </a:t>
            </a:r>
            <a:r>
              <a:rPr lang="en-US" sz="5400" dirty="0">
                <a:latin typeface="Californian FB" panose="0207040306080B030204" pitchFamily="18" charset="0"/>
              </a:rPr>
              <a:t>“A Voyage Through Cultures”</a:t>
            </a:r>
            <a:endParaRPr lang="en-IN" sz="5400" dirty="0">
              <a:latin typeface="Californian FB" panose="0207040306080B030204" pitchFamily="18" charset="0"/>
            </a:endParaRPr>
          </a:p>
        </p:txBody>
      </p:sp>
      <p:pic>
        <p:nvPicPr>
          <p:cNvPr id="4" name="Picture 3" descr="A cartoon of a planet with different objects around it">
            <a:extLst>
              <a:ext uri="{FF2B5EF4-FFF2-40B4-BE49-F238E27FC236}">
                <a16:creationId xmlns:a16="http://schemas.microsoft.com/office/drawing/2014/main" id="{4A1FB318-A72D-52EE-9530-67A42620DE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28954" y="647700"/>
            <a:ext cx="6897498" cy="883920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EC"/>
        </a:solidFill>
        <a:effectLst/>
      </p:bgPr>
    </p:bg>
    <p:spTree>
      <p:nvGrpSpPr>
        <p:cNvPr id="1" name=""/>
        <p:cNvGrpSpPr/>
        <p:nvPr/>
      </p:nvGrpSpPr>
      <p:grpSpPr>
        <a:xfrm>
          <a:off x="0" y="0"/>
          <a:ext cx="0" cy="0"/>
          <a:chOff x="0" y="0"/>
          <a:chExt cx="0" cy="0"/>
        </a:xfrm>
      </p:grpSpPr>
      <p:grpSp>
        <p:nvGrpSpPr>
          <p:cNvPr id="3" name="Group 3"/>
          <p:cNvGrpSpPr/>
          <p:nvPr/>
        </p:nvGrpSpPr>
        <p:grpSpPr>
          <a:xfrm>
            <a:off x="484561" y="1271199"/>
            <a:ext cx="16889039" cy="7325125"/>
            <a:chOff x="0" y="0"/>
            <a:chExt cx="3866217" cy="1286937"/>
          </a:xfrm>
        </p:grpSpPr>
        <p:sp>
          <p:nvSpPr>
            <p:cNvPr id="4" name="Freeform 4"/>
            <p:cNvSpPr/>
            <p:nvPr/>
          </p:nvSpPr>
          <p:spPr>
            <a:xfrm>
              <a:off x="0" y="0"/>
              <a:ext cx="3866217" cy="1286937"/>
            </a:xfrm>
            <a:custGeom>
              <a:avLst/>
              <a:gdLst/>
              <a:ahLst/>
              <a:cxnLst/>
              <a:rect l="l" t="t" r="r" b="b"/>
              <a:pathLst>
                <a:path w="3866217" h="1286937">
                  <a:moveTo>
                    <a:pt x="11603" y="0"/>
                  </a:moveTo>
                  <a:lnTo>
                    <a:pt x="3854614" y="0"/>
                  </a:lnTo>
                  <a:cubicBezTo>
                    <a:pt x="3857692" y="0"/>
                    <a:pt x="3860643" y="1222"/>
                    <a:pt x="3862819" y="3398"/>
                  </a:cubicBezTo>
                  <a:cubicBezTo>
                    <a:pt x="3864995" y="5574"/>
                    <a:pt x="3866217" y="8525"/>
                    <a:pt x="3866217" y="11603"/>
                  </a:cubicBezTo>
                  <a:lnTo>
                    <a:pt x="3866217" y="1275334"/>
                  </a:lnTo>
                  <a:cubicBezTo>
                    <a:pt x="3866217" y="1278411"/>
                    <a:pt x="3864995" y="1281362"/>
                    <a:pt x="3862819" y="1283538"/>
                  </a:cubicBezTo>
                  <a:cubicBezTo>
                    <a:pt x="3860643" y="1285714"/>
                    <a:pt x="3857692" y="1286937"/>
                    <a:pt x="3854614" y="1286937"/>
                  </a:cubicBezTo>
                  <a:lnTo>
                    <a:pt x="11603" y="1286937"/>
                  </a:lnTo>
                  <a:cubicBezTo>
                    <a:pt x="8525" y="1286937"/>
                    <a:pt x="5574" y="1285714"/>
                    <a:pt x="3398" y="1283538"/>
                  </a:cubicBezTo>
                  <a:cubicBezTo>
                    <a:pt x="1222" y="1281362"/>
                    <a:pt x="0" y="1278411"/>
                    <a:pt x="0" y="1275334"/>
                  </a:cubicBezTo>
                  <a:lnTo>
                    <a:pt x="0" y="11603"/>
                  </a:lnTo>
                  <a:cubicBezTo>
                    <a:pt x="0" y="8525"/>
                    <a:pt x="1222" y="5574"/>
                    <a:pt x="3398" y="3398"/>
                  </a:cubicBezTo>
                  <a:cubicBezTo>
                    <a:pt x="5574" y="1222"/>
                    <a:pt x="8525" y="0"/>
                    <a:pt x="11603" y="0"/>
                  </a:cubicBezTo>
                  <a:close/>
                </a:path>
              </a:pathLst>
            </a:custGeom>
            <a:solidFill>
              <a:srgbClr val="EBC43A"/>
            </a:solidFill>
          </p:spPr>
        </p:sp>
        <p:sp>
          <p:nvSpPr>
            <p:cNvPr id="5" name="TextBox 5"/>
            <p:cNvSpPr txBox="1"/>
            <p:nvPr/>
          </p:nvSpPr>
          <p:spPr>
            <a:xfrm>
              <a:off x="0" y="-66675"/>
              <a:ext cx="3866217" cy="1353612"/>
            </a:xfrm>
            <a:prstGeom prst="rect">
              <a:avLst/>
            </a:prstGeom>
          </p:spPr>
          <p:txBody>
            <a:bodyPr lIns="50800" tIns="50800" rIns="50800" bIns="50800" rtlCol="0" anchor="ctr"/>
            <a:lstStyle/>
            <a:p>
              <a:pPr algn="ctr">
                <a:lnSpc>
                  <a:spcPts val="2800"/>
                </a:lnSpc>
              </a:pPr>
              <a:endParaRPr/>
            </a:p>
          </p:txBody>
        </p:sp>
      </p:grpSp>
      <p:sp>
        <p:nvSpPr>
          <p:cNvPr id="18" name="TextBox 18"/>
          <p:cNvSpPr txBox="1"/>
          <p:nvPr/>
        </p:nvSpPr>
        <p:spPr>
          <a:xfrm>
            <a:off x="914400" y="350398"/>
            <a:ext cx="7678708" cy="1087120"/>
          </a:xfrm>
          <a:prstGeom prst="rect">
            <a:avLst/>
          </a:prstGeom>
        </p:spPr>
        <p:txBody>
          <a:bodyPr lIns="0" tIns="0" rIns="0" bIns="0" rtlCol="0" anchor="t">
            <a:spAutoFit/>
          </a:bodyPr>
          <a:lstStyle/>
          <a:p>
            <a:pPr algn="l">
              <a:lnSpc>
                <a:spcPts val="6800"/>
              </a:lnSpc>
            </a:pPr>
            <a:r>
              <a:rPr lang="en-US" sz="6800" b="1" dirty="0">
                <a:solidFill>
                  <a:srgbClr val="000000"/>
                </a:solidFill>
                <a:latin typeface="Agrandir Bold"/>
                <a:ea typeface="Agrandir Bold"/>
                <a:cs typeface="Agrandir Bold"/>
                <a:sym typeface="Agrandir Bold"/>
              </a:rPr>
              <a:t>The Problem</a:t>
            </a:r>
          </a:p>
        </p:txBody>
      </p:sp>
      <p:sp>
        <p:nvSpPr>
          <p:cNvPr id="19" name="Freeform 19"/>
          <p:cNvSpPr/>
          <p:nvPr/>
        </p:nvSpPr>
        <p:spPr>
          <a:xfrm rot="-1531640">
            <a:off x="11011516" y="9655233"/>
            <a:ext cx="7315200" cy="1263535"/>
          </a:xfrm>
          <a:custGeom>
            <a:avLst/>
            <a:gdLst/>
            <a:ahLst/>
            <a:cxnLst/>
            <a:rect l="l" t="t" r="r" b="b"/>
            <a:pathLst>
              <a:path w="7315200" h="1263535">
                <a:moveTo>
                  <a:pt x="0" y="0"/>
                </a:moveTo>
                <a:lnTo>
                  <a:pt x="7315200" y="0"/>
                </a:lnTo>
                <a:lnTo>
                  <a:pt x="7315200" y="1263534"/>
                </a:lnTo>
                <a:lnTo>
                  <a:pt x="0" y="1263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7" name="Picture 6" descr="A person holding a phone">
            <a:extLst>
              <a:ext uri="{FF2B5EF4-FFF2-40B4-BE49-F238E27FC236}">
                <a16:creationId xmlns:a16="http://schemas.microsoft.com/office/drawing/2014/main" id="{9522E4B5-A278-9BF8-7E9C-334D5B8B49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880" y="2902033"/>
            <a:ext cx="6553199" cy="406345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9" name="TextBox 8">
            <a:extLst>
              <a:ext uri="{FF2B5EF4-FFF2-40B4-BE49-F238E27FC236}">
                <a16:creationId xmlns:a16="http://schemas.microsoft.com/office/drawing/2014/main" id="{5320C736-C233-D099-CED2-131795C77634}"/>
              </a:ext>
            </a:extLst>
          </p:cNvPr>
          <p:cNvSpPr txBox="1"/>
          <p:nvPr/>
        </p:nvSpPr>
        <p:spPr>
          <a:xfrm>
            <a:off x="7772400" y="2105163"/>
            <a:ext cx="9196250" cy="6278642"/>
          </a:xfrm>
          <a:prstGeom prst="rect">
            <a:avLst/>
          </a:prstGeom>
          <a:noFill/>
        </p:spPr>
        <p:txBody>
          <a:bodyPr wrap="square">
            <a:spAutoFit/>
          </a:bodyPr>
          <a:lstStyle/>
          <a:p>
            <a:r>
              <a:rPr lang="en-IN" sz="2600" dirty="0">
                <a:latin typeface="Algerian" panose="04020705040A02060702" pitchFamily="82" charset="0"/>
              </a:rPr>
              <a:t>Tourists often face several problems while planning a trip. </a:t>
            </a:r>
          </a:p>
          <a:p>
            <a:r>
              <a:rPr lang="en-IN" sz="2800" dirty="0">
                <a:latin typeface="Maiandra GD" panose="020E0502030308020204" pitchFamily="34" charset="0"/>
              </a:rPr>
              <a:t>‣ </a:t>
            </a:r>
            <a:r>
              <a:rPr lang="en-IN" sz="2600" dirty="0"/>
              <a:t>Firstly, budgeting and cost management can be difficult as travel prices, accommodation, and food expenses may vary greatly. </a:t>
            </a:r>
          </a:p>
          <a:p>
            <a:r>
              <a:rPr lang="en-IN" sz="2800" dirty="0">
                <a:latin typeface="Maiandra GD" panose="020E0502030308020204" pitchFamily="34" charset="0"/>
              </a:rPr>
              <a:t>‣ </a:t>
            </a:r>
            <a:r>
              <a:rPr lang="en-IN" sz="2600" dirty="0"/>
              <a:t>Secondly, lack of proper information about destinations, transport routes, or safety measures can create confusion. </a:t>
            </a:r>
          </a:p>
          <a:p>
            <a:r>
              <a:rPr lang="en-IN" sz="2800" dirty="0">
                <a:latin typeface="Maiandra GD" panose="020E0502030308020204" pitchFamily="34" charset="0"/>
              </a:rPr>
              <a:t>‣ </a:t>
            </a:r>
            <a:r>
              <a:rPr lang="en-IN" sz="2600" dirty="0"/>
              <a:t>Thirdly, difficulty in getting travel documents such as visas or permits often delays plans. </a:t>
            </a:r>
          </a:p>
          <a:p>
            <a:r>
              <a:rPr lang="en-IN" sz="2800" dirty="0">
                <a:latin typeface="Maiandra GD" panose="020E0502030308020204" pitchFamily="34" charset="0"/>
              </a:rPr>
              <a:t>‣ </a:t>
            </a:r>
            <a:r>
              <a:rPr lang="en-IN" sz="2600" dirty="0"/>
              <a:t>Fourthly, unreliable online bookings or fraudulent websites may lead to financial loss.</a:t>
            </a:r>
          </a:p>
          <a:p>
            <a:r>
              <a:rPr lang="en-IN" sz="2800" dirty="0">
                <a:latin typeface="Maiandra GD" panose="020E0502030308020204" pitchFamily="34" charset="0"/>
              </a:rPr>
              <a:t>‣ </a:t>
            </a:r>
            <a:r>
              <a:rPr lang="en-IN" sz="2600" dirty="0"/>
              <a:t>Fifthly, health and safety concerns such as vaccination requirements or political instability can affect travel decisions. </a:t>
            </a:r>
          </a:p>
          <a:p>
            <a:r>
              <a:rPr lang="en-IN" sz="2800" dirty="0">
                <a:latin typeface="Maiandra GD" panose="020E0502030308020204" pitchFamily="34" charset="0"/>
              </a:rPr>
              <a:t>‣ </a:t>
            </a:r>
            <a:r>
              <a:rPr lang="en-IN" sz="2600" dirty="0"/>
              <a:t>Lastly, time management and itinerary planning become challenging when trying to balance sightseeing, relaxation, and travel schedules effectively.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EC"/>
        </a:solidFill>
        <a:effectLst/>
      </p:bgPr>
    </p:bg>
    <p:spTree>
      <p:nvGrpSpPr>
        <p:cNvPr id="1" name=""/>
        <p:cNvGrpSpPr/>
        <p:nvPr/>
      </p:nvGrpSpPr>
      <p:grpSpPr>
        <a:xfrm>
          <a:off x="0" y="0"/>
          <a:ext cx="0" cy="0"/>
          <a:chOff x="0" y="0"/>
          <a:chExt cx="0" cy="0"/>
        </a:xfrm>
      </p:grpSpPr>
      <p:grpSp>
        <p:nvGrpSpPr>
          <p:cNvPr id="2" name="Group 2"/>
          <p:cNvGrpSpPr/>
          <p:nvPr/>
        </p:nvGrpSpPr>
        <p:grpSpPr>
          <a:xfrm>
            <a:off x="-1223217" y="5143500"/>
            <a:ext cx="2446433" cy="24464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8823562" y="0"/>
            <a:ext cx="9365869" cy="4682935"/>
          </a:xfrm>
          <a:custGeom>
            <a:avLst/>
            <a:gdLst/>
            <a:ahLst/>
            <a:cxnLst/>
            <a:rect l="l" t="t" r="r" b="b"/>
            <a:pathLst>
              <a:path w="9365869" h="4682935">
                <a:moveTo>
                  <a:pt x="0" y="0"/>
                </a:moveTo>
                <a:lnTo>
                  <a:pt x="9365869" y="0"/>
                </a:lnTo>
                <a:lnTo>
                  <a:pt x="9365869" y="4682935"/>
                </a:lnTo>
                <a:lnTo>
                  <a:pt x="0" y="4682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V="1">
            <a:off x="8823562" y="5604065"/>
            <a:ext cx="9365869" cy="4682935"/>
          </a:xfrm>
          <a:custGeom>
            <a:avLst/>
            <a:gdLst/>
            <a:ahLst/>
            <a:cxnLst/>
            <a:rect l="l" t="t" r="r" b="b"/>
            <a:pathLst>
              <a:path w="9365869" h="4682935">
                <a:moveTo>
                  <a:pt x="0" y="4682935"/>
                </a:moveTo>
                <a:lnTo>
                  <a:pt x="9365869" y="4682935"/>
                </a:lnTo>
                <a:lnTo>
                  <a:pt x="9365869" y="0"/>
                </a:lnTo>
                <a:lnTo>
                  <a:pt x="0" y="0"/>
                </a:lnTo>
                <a:lnTo>
                  <a:pt x="0" y="4682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rot="-5400000" flipV="1">
            <a:off x="-542296" y="5902072"/>
            <a:ext cx="1858578" cy="929289"/>
          </a:xfrm>
          <a:custGeom>
            <a:avLst/>
            <a:gdLst/>
            <a:ahLst/>
            <a:cxnLst/>
            <a:rect l="l" t="t" r="r" b="b"/>
            <a:pathLst>
              <a:path w="1858578" h="929289">
                <a:moveTo>
                  <a:pt x="0" y="929289"/>
                </a:moveTo>
                <a:lnTo>
                  <a:pt x="1858578" y="929289"/>
                </a:lnTo>
                <a:lnTo>
                  <a:pt x="1858578" y="0"/>
                </a:lnTo>
                <a:lnTo>
                  <a:pt x="0" y="0"/>
                </a:lnTo>
                <a:lnTo>
                  <a:pt x="0" y="92928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908993" y="6081068"/>
            <a:ext cx="571298" cy="571298"/>
          </a:xfrm>
          <a:custGeom>
            <a:avLst/>
            <a:gdLst/>
            <a:ahLst/>
            <a:cxnLst/>
            <a:rect l="l" t="t" r="r" b="b"/>
            <a:pathLst>
              <a:path w="571298" h="571298">
                <a:moveTo>
                  <a:pt x="0" y="0"/>
                </a:moveTo>
                <a:lnTo>
                  <a:pt x="571298" y="0"/>
                </a:lnTo>
                <a:lnTo>
                  <a:pt x="571298" y="571298"/>
                </a:lnTo>
                <a:lnTo>
                  <a:pt x="0" y="5712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rot="5400000">
            <a:off x="4648200" y="-1521508"/>
            <a:ext cx="2446433" cy="24464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15" name="TextBox 15"/>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16" name="Freeform 16"/>
          <p:cNvSpPr/>
          <p:nvPr/>
        </p:nvSpPr>
        <p:spPr>
          <a:xfrm flipV="1">
            <a:off x="4949911" y="-276992"/>
            <a:ext cx="1858578" cy="929289"/>
          </a:xfrm>
          <a:custGeom>
            <a:avLst/>
            <a:gdLst/>
            <a:ahLst/>
            <a:cxnLst/>
            <a:rect l="l" t="t" r="r" b="b"/>
            <a:pathLst>
              <a:path w="1858578" h="929289">
                <a:moveTo>
                  <a:pt x="0" y="929289"/>
                </a:moveTo>
                <a:lnTo>
                  <a:pt x="1858578" y="929289"/>
                </a:lnTo>
                <a:lnTo>
                  <a:pt x="1858578" y="0"/>
                </a:lnTo>
                <a:lnTo>
                  <a:pt x="0" y="0"/>
                </a:lnTo>
                <a:lnTo>
                  <a:pt x="0" y="92928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rot="5400000">
            <a:off x="5593551" y="828081"/>
            <a:ext cx="571298" cy="571298"/>
          </a:xfrm>
          <a:custGeom>
            <a:avLst/>
            <a:gdLst/>
            <a:ahLst/>
            <a:cxnLst/>
            <a:rect l="l" t="t" r="r" b="b"/>
            <a:pathLst>
              <a:path w="571298" h="571298">
                <a:moveTo>
                  <a:pt x="0" y="0"/>
                </a:moveTo>
                <a:lnTo>
                  <a:pt x="571298" y="0"/>
                </a:lnTo>
                <a:lnTo>
                  <a:pt x="571298" y="571298"/>
                </a:lnTo>
                <a:lnTo>
                  <a:pt x="0" y="5712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1" name="Freeform 21"/>
          <p:cNvSpPr/>
          <p:nvPr/>
        </p:nvSpPr>
        <p:spPr>
          <a:xfrm rot="-1358648" flipH="1">
            <a:off x="-3121118" y="789075"/>
            <a:ext cx="6072527" cy="1048891"/>
          </a:xfrm>
          <a:custGeom>
            <a:avLst/>
            <a:gdLst/>
            <a:ahLst/>
            <a:cxnLst/>
            <a:rect l="l" t="t" r="r" b="b"/>
            <a:pathLst>
              <a:path w="6072527" h="1048891">
                <a:moveTo>
                  <a:pt x="6072527" y="0"/>
                </a:moveTo>
                <a:lnTo>
                  <a:pt x="0" y="0"/>
                </a:lnTo>
                <a:lnTo>
                  <a:pt x="0" y="1048891"/>
                </a:lnTo>
                <a:lnTo>
                  <a:pt x="6072527" y="1048891"/>
                </a:lnTo>
                <a:lnTo>
                  <a:pt x="607252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5" name="TextBox 24">
            <a:extLst>
              <a:ext uri="{FF2B5EF4-FFF2-40B4-BE49-F238E27FC236}">
                <a16:creationId xmlns:a16="http://schemas.microsoft.com/office/drawing/2014/main" id="{583B87FF-6565-A23F-5374-5520D47CDA97}"/>
              </a:ext>
            </a:extLst>
          </p:cNvPr>
          <p:cNvSpPr txBox="1"/>
          <p:nvPr/>
        </p:nvSpPr>
        <p:spPr>
          <a:xfrm>
            <a:off x="1990588" y="2286358"/>
            <a:ext cx="6008251" cy="2123658"/>
          </a:xfrm>
          <a:prstGeom prst="rect">
            <a:avLst/>
          </a:prstGeom>
          <a:noFill/>
        </p:spPr>
        <p:txBody>
          <a:bodyPr wrap="square" rtlCol="0">
            <a:spAutoFit/>
          </a:bodyPr>
          <a:lstStyle/>
          <a:p>
            <a:r>
              <a:rPr lang="en-IN" sz="6600">
                <a:latin typeface="Engravers MT" panose="02090707080505020304" pitchFamily="18" charset="0"/>
              </a:rPr>
              <a:t>Vigilant Voyager</a:t>
            </a:r>
            <a:endParaRPr lang="en-IN" sz="6600" dirty="0">
              <a:latin typeface="Engravers MT" panose="02090707080505020304" pitchFamily="18" charset="0"/>
            </a:endParaRPr>
          </a:p>
        </p:txBody>
      </p:sp>
      <p:pic>
        <p:nvPicPr>
          <p:cNvPr id="27" name="Picture 26" descr="A logo for a company&#10;&#10;AI-generated content may be incorrect.">
            <a:extLst>
              <a:ext uri="{FF2B5EF4-FFF2-40B4-BE49-F238E27FC236}">
                <a16:creationId xmlns:a16="http://schemas.microsoft.com/office/drawing/2014/main" id="{EFB29EA9-F361-2908-D127-AA77079D6D2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80381" y="770725"/>
            <a:ext cx="8252229" cy="8624497"/>
          </a:xfrm>
          <a:prstGeom prst="flowChartConnector">
            <a:avLst/>
          </a:prstGeom>
        </p:spPr>
      </p:pic>
      <p:sp>
        <p:nvSpPr>
          <p:cNvPr id="7" name="TextBox 6">
            <a:extLst>
              <a:ext uri="{FF2B5EF4-FFF2-40B4-BE49-F238E27FC236}">
                <a16:creationId xmlns:a16="http://schemas.microsoft.com/office/drawing/2014/main" id="{2024D5BA-A865-0BCD-1DDC-1183D7D6145F}"/>
              </a:ext>
            </a:extLst>
          </p:cNvPr>
          <p:cNvSpPr txBox="1"/>
          <p:nvPr/>
        </p:nvSpPr>
        <p:spPr>
          <a:xfrm>
            <a:off x="2139428" y="4663241"/>
            <a:ext cx="6346546" cy="5016758"/>
          </a:xfrm>
          <a:prstGeom prst="rect">
            <a:avLst/>
          </a:prstGeom>
          <a:noFill/>
        </p:spPr>
        <p:txBody>
          <a:bodyPr wrap="square" rtlCol="0">
            <a:spAutoFit/>
          </a:bodyPr>
          <a:lstStyle/>
          <a:p>
            <a:r>
              <a:rPr lang="en-US" sz="3200" dirty="0">
                <a:latin typeface="Rockwell" panose="02060603020205020403" pitchFamily="18" charset="0"/>
              </a:rPr>
              <a:t>The process begins when a traveler feels confused about planning their trip. To solve this, the system or tool starts by taking the traveler’s preferences, such as the type of travel experience they want. These preferences may include travel companions, distance range, budget, time, and interests</a:t>
            </a:r>
            <a:endParaRPr lang="en-IN" sz="3200" dirty="0">
              <a:latin typeface="Rockwell" panose="02060603020205020403" pitchFamily="18" charset="0"/>
            </a:endParaRPr>
          </a:p>
        </p:txBody>
      </p:sp>
      <p:sp>
        <p:nvSpPr>
          <p:cNvPr id="9" name="TextBox 8">
            <a:extLst>
              <a:ext uri="{FF2B5EF4-FFF2-40B4-BE49-F238E27FC236}">
                <a16:creationId xmlns:a16="http://schemas.microsoft.com/office/drawing/2014/main" id="{98240BA0-1E01-D5AE-4B98-CA0F7789CEF0}"/>
              </a:ext>
            </a:extLst>
          </p:cNvPr>
          <p:cNvSpPr txBox="1"/>
          <p:nvPr/>
        </p:nvSpPr>
        <p:spPr>
          <a:xfrm>
            <a:off x="2102417" y="1290129"/>
            <a:ext cx="5447341" cy="830997"/>
          </a:xfrm>
          <a:prstGeom prst="rect">
            <a:avLst/>
          </a:prstGeom>
          <a:noFill/>
        </p:spPr>
        <p:txBody>
          <a:bodyPr wrap="square" rtlCol="0">
            <a:spAutoFit/>
          </a:bodyPr>
          <a:lstStyle/>
          <a:p>
            <a:r>
              <a:rPr lang="en-US" sz="4800" dirty="0">
                <a:latin typeface="Perpetua Titling MT" panose="02020502060505020804" pitchFamily="18" charset="0"/>
              </a:rPr>
              <a:t>THE SOLUTION</a:t>
            </a:r>
            <a:endParaRPr lang="en-IN" sz="4800" dirty="0">
              <a:latin typeface="Perpetua Titling MT" panose="020205020605050208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EC"/>
        </a:solidFill>
        <a:effectLst/>
      </p:bgPr>
    </p:bg>
    <p:spTree>
      <p:nvGrpSpPr>
        <p:cNvPr id="1" name=""/>
        <p:cNvGrpSpPr/>
        <p:nvPr/>
      </p:nvGrpSpPr>
      <p:grpSpPr>
        <a:xfrm>
          <a:off x="0" y="0"/>
          <a:ext cx="0" cy="0"/>
          <a:chOff x="0" y="0"/>
          <a:chExt cx="0" cy="0"/>
        </a:xfrm>
      </p:grpSpPr>
      <p:sp>
        <p:nvSpPr>
          <p:cNvPr id="2" name="Freeform 2"/>
          <p:cNvSpPr/>
          <p:nvPr/>
        </p:nvSpPr>
        <p:spPr>
          <a:xfrm>
            <a:off x="16914036" y="2976207"/>
            <a:ext cx="4610230" cy="9220461"/>
          </a:xfrm>
          <a:custGeom>
            <a:avLst/>
            <a:gdLst/>
            <a:ahLst/>
            <a:cxnLst/>
            <a:rect l="l" t="t" r="r" b="b"/>
            <a:pathLst>
              <a:path w="4610230" h="9220461">
                <a:moveTo>
                  <a:pt x="0" y="0"/>
                </a:moveTo>
                <a:lnTo>
                  <a:pt x="4610230" y="0"/>
                </a:lnTo>
                <a:lnTo>
                  <a:pt x="4610230" y="9220461"/>
                </a:lnTo>
                <a:lnTo>
                  <a:pt x="0" y="92204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2552669" y="-2308792"/>
            <a:ext cx="6010980" cy="6674984"/>
          </a:xfrm>
          <a:custGeom>
            <a:avLst/>
            <a:gdLst/>
            <a:ahLst/>
            <a:cxnLst/>
            <a:rect l="l" t="t" r="r" b="b"/>
            <a:pathLst>
              <a:path w="6010980" h="6674984">
                <a:moveTo>
                  <a:pt x="0" y="0"/>
                </a:moveTo>
                <a:lnTo>
                  <a:pt x="6010980" y="0"/>
                </a:lnTo>
                <a:lnTo>
                  <a:pt x="6010980" y="6674984"/>
                </a:lnTo>
                <a:lnTo>
                  <a:pt x="0" y="66749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1630465" y="-4902785"/>
            <a:ext cx="4166573" cy="8333147"/>
          </a:xfrm>
          <a:custGeom>
            <a:avLst/>
            <a:gdLst/>
            <a:ahLst/>
            <a:cxnLst/>
            <a:rect l="l" t="t" r="r" b="b"/>
            <a:pathLst>
              <a:path w="4166573" h="8333147">
                <a:moveTo>
                  <a:pt x="0" y="8333146"/>
                </a:moveTo>
                <a:lnTo>
                  <a:pt x="4166573" y="8333146"/>
                </a:lnTo>
                <a:lnTo>
                  <a:pt x="4166573" y="0"/>
                </a:lnTo>
                <a:lnTo>
                  <a:pt x="0" y="0"/>
                </a:lnTo>
                <a:lnTo>
                  <a:pt x="0" y="833314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7045279" y="3177204"/>
            <a:ext cx="3952293" cy="3423062"/>
          </a:xfrm>
          <a:prstGeom prst="rect">
            <a:avLst/>
          </a:prstGeom>
        </p:spPr>
        <p:txBody>
          <a:bodyPr lIns="50800" tIns="50800" rIns="50800" bIns="50800" rtlCol="0" anchor="ctr"/>
          <a:lstStyle/>
          <a:p>
            <a:pPr algn="ctr">
              <a:lnSpc>
                <a:spcPts val="2800"/>
              </a:lnSpc>
            </a:pPr>
            <a:endParaRPr/>
          </a:p>
        </p:txBody>
      </p:sp>
      <p:sp>
        <p:nvSpPr>
          <p:cNvPr id="29" name="Freeform 29"/>
          <p:cNvSpPr/>
          <p:nvPr/>
        </p:nvSpPr>
        <p:spPr>
          <a:xfrm rot="1210923">
            <a:off x="14630400" y="1336027"/>
            <a:ext cx="7315200" cy="1263535"/>
          </a:xfrm>
          <a:custGeom>
            <a:avLst/>
            <a:gdLst/>
            <a:ahLst/>
            <a:cxnLst/>
            <a:rect l="l" t="t" r="r" b="b"/>
            <a:pathLst>
              <a:path w="7315200" h="1263535">
                <a:moveTo>
                  <a:pt x="0" y="0"/>
                </a:moveTo>
                <a:lnTo>
                  <a:pt x="7315200" y="0"/>
                </a:lnTo>
                <a:lnTo>
                  <a:pt x="7315200" y="1263535"/>
                </a:lnTo>
                <a:lnTo>
                  <a:pt x="0" y="12635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TextBox 32"/>
          <p:cNvSpPr txBox="1"/>
          <p:nvPr/>
        </p:nvSpPr>
        <p:spPr>
          <a:xfrm>
            <a:off x="11792500" y="3712614"/>
            <a:ext cx="660298" cy="701202"/>
          </a:xfrm>
          <a:prstGeom prst="rect">
            <a:avLst/>
          </a:prstGeom>
        </p:spPr>
        <p:txBody>
          <a:bodyPr lIns="0" tIns="0" rIns="0" bIns="0" rtlCol="0" anchor="t">
            <a:spAutoFit/>
          </a:bodyPr>
          <a:lstStyle/>
          <a:p>
            <a:pPr algn="ctr">
              <a:lnSpc>
                <a:spcPts val="5746"/>
              </a:lnSpc>
            </a:pPr>
            <a:r>
              <a:rPr lang="en-US" sz="4104" b="1">
                <a:solidFill>
                  <a:srgbClr val="FFF9EC"/>
                </a:solidFill>
                <a:latin typeface="Canva Sans Bold"/>
                <a:ea typeface="Canva Sans Bold"/>
                <a:cs typeface="Canva Sans Bold"/>
                <a:sym typeface="Canva Sans Bold"/>
              </a:rPr>
              <a:t>2</a:t>
            </a:r>
          </a:p>
        </p:txBody>
      </p:sp>
      <p:sp>
        <p:nvSpPr>
          <p:cNvPr id="33" name="TextBox 33"/>
          <p:cNvSpPr txBox="1"/>
          <p:nvPr/>
        </p:nvSpPr>
        <p:spPr>
          <a:xfrm>
            <a:off x="11792500" y="5491325"/>
            <a:ext cx="660298" cy="701202"/>
          </a:xfrm>
          <a:prstGeom prst="rect">
            <a:avLst/>
          </a:prstGeom>
        </p:spPr>
        <p:txBody>
          <a:bodyPr lIns="0" tIns="0" rIns="0" bIns="0" rtlCol="0" anchor="t">
            <a:spAutoFit/>
          </a:bodyPr>
          <a:lstStyle/>
          <a:p>
            <a:pPr algn="ctr">
              <a:lnSpc>
                <a:spcPts val="5746"/>
              </a:lnSpc>
            </a:pPr>
            <a:r>
              <a:rPr lang="en-US" sz="4104" b="1">
                <a:solidFill>
                  <a:srgbClr val="FFF9EC"/>
                </a:solidFill>
                <a:latin typeface="Canva Sans Bold"/>
                <a:ea typeface="Canva Sans Bold"/>
                <a:cs typeface="Canva Sans Bold"/>
                <a:sym typeface="Canva Sans Bold"/>
              </a:rPr>
              <a:t>3</a:t>
            </a:r>
          </a:p>
        </p:txBody>
      </p:sp>
      <p:sp>
        <p:nvSpPr>
          <p:cNvPr id="34" name="TextBox 34"/>
          <p:cNvSpPr txBox="1"/>
          <p:nvPr/>
        </p:nvSpPr>
        <p:spPr>
          <a:xfrm>
            <a:off x="11792500" y="7138393"/>
            <a:ext cx="660298" cy="701202"/>
          </a:xfrm>
          <a:prstGeom prst="rect">
            <a:avLst/>
          </a:prstGeom>
        </p:spPr>
        <p:txBody>
          <a:bodyPr lIns="0" tIns="0" rIns="0" bIns="0" rtlCol="0" anchor="t">
            <a:spAutoFit/>
          </a:bodyPr>
          <a:lstStyle/>
          <a:p>
            <a:pPr algn="ctr">
              <a:lnSpc>
                <a:spcPts val="5746"/>
              </a:lnSpc>
            </a:pPr>
            <a:r>
              <a:rPr lang="en-US" sz="4104" b="1">
                <a:solidFill>
                  <a:srgbClr val="FFF9EC"/>
                </a:solidFill>
                <a:latin typeface="Canva Sans Bold"/>
                <a:ea typeface="Canva Sans Bold"/>
                <a:cs typeface="Canva Sans Bold"/>
                <a:sym typeface="Canva Sans Bold"/>
              </a:rPr>
              <a:t>4</a:t>
            </a:r>
          </a:p>
        </p:txBody>
      </p:sp>
      <p:sp>
        <p:nvSpPr>
          <p:cNvPr id="39" name="TextBox 38">
            <a:extLst>
              <a:ext uri="{FF2B5EF4-FFF2-40B4-BE49-F238E27FC236}">
                <a16:creationId xmlns:a16="http://schemas.microsoft.com/office/drawing/2014/main" id="{CDD1009D-DF27-A1BF-DE11-9B173D6D4B55}"/>
              </a:ext>
            </a:extLst>
          </p:cNvPr>
          <p:cNvSpPr txBox="1"/>
          <p:nvPr/>
        </p:nvSpPr>
        <p:spPr>
          <a:xfrm>
            <a:off x="5803148" y="249625"/>
            <a:ext cx="7847406" cy="1200329"/>
          </a:xfrm>
          <a:prstGeom prst="rect">
            <a:avLst/>
          </a:prstGeom>
          <a:noFill/>
        </p:spPr>
        <p:txBody>
          <a:bodyPr wrap="square" rtlCol="0">
            <a:spAutoFit/>
          </a:bodyPr>
          <a:lstStyle/>
          <a:p>
            <a:endParaRPr lang="en-IN" sz="7200" dirty="0">
              <a:latin typeface="Engravers MT" panose="02090707080505020304" pitchFamily="18" charset="0"/>
            </a:endParaRPr>
          </a:p>
        </p:txBody>
      </p:sp>
      <p:sp>
        <p:nvSpPr>
          <p:cNvPr id="5" name="TextBox 4">
            <a:extLst>
              <a:ext uri="{FF2B5EF4-FFF2-40B4-BE49-F238E27FC236}">
                <a16:creationId xmlns:a16="http://schemas.microsoft.com/office/drawing/2014/main" id="{A2DD0449-9267-F2B4-0EB6-A0E6AFA90BFA}"/>
              </a:ext>
            </a:extLst>
          </p:cNvPr>
          <p:cNvSpPr txBox="1"/>
          <p:nvPr/>
        </p:nvSpPr>
        <p:spPr>
          <a:xfrm>
            <a:off x="3810000" y="1268547"/>
            <a:ext cx="7847406" cy="461665"/>
          </a:xfrm>
          <a:prstGeom prst="rect">
            <a:avLst/>
          </a:prstGeom>
          <a:noFill/>
        </p:spPr>
        <p:txBody>
          <a:bodyPr wrap="square" rtlCol="0">
            <a:spAutoFit/>
          </a:bodyPr>
          <a:lstStyle/>
          <a:p>
            <a:r>
              <a:rPr lang="en-US" sz="2400" dirty="0">
                <a:latin typeface="Maiandra GD" panose="020E0502030308020204" pitchFamily="34" charset="0"/>
              </a:rPr>
              <a:t>Tourists struggle to decide which sources are trustworthy.</a:t>
            </a:r>
            <a:endParaRPr lang="en-IN" sz="2400" dirty="0">
              <a:latin typeface="Maiandra GD" panose="020E0502030308020204" pitchFamily="34" charset="0"/>
            </a:endParaRPr>
          </a:p>
        </p:txBody>
      </p:sp>
      <p:sp>
        <p:nvSpPr>
          <p:cNvPr id="6" name="TextBox 5">
            <a:extLst>
              <a:ext uri="{FF2B5EF4-FFF2-40B4-BE49-F238E27FC236}">
                <a16:creationId xmlns:a16="http://schemas.microsoft.com/office/drawing/2014/main" id="{BC1C1FA0-AAE3-4F69-BEE1-FCB545201EC8}"/>
              </a:ext>
            </a:extLst>
          </p:cNvPr>
          <p:cNvSpPr txBox="1"/>
          <p:nvPr/>
        </p:nvSpPr>
        <p:spPr>
          <a:xfrm>
            <a:off x="3819770" y="1811991"/>
            <a:ext cx="8077200" cy="830997"/>
          </a:xfrm>
          <a:prstGeom prst="rect">
            <a:avLst/>
          </a:prstGeom>
          <a:noFill/>
        </p:spPr>
        <p:txBody>
          <a:bodyPr wrap="square" rtlCol="0">
            <a:spAutoFit/>
          </a:bodyPr>
          <a:lstStyle/>
          <a:p>
            <a:r>
              <a:rPr lang="en-US" sz="2400" dirty="0">
                <a:latin typeface="Maiandra GD" panose="020E0502030308020204" pitchFamily="34" charset="0"/>
              </a:rPr>
              <a:t>There’s too much information online — hundreds of blogs, videos, and reviews.</a:t>
            </a:r>
            <a:endParaRPr lang="en-IN" sz="2400" dirty="0">
              <a:latin typeface="Maiandra GD" panose="020E0502030308020204" pitchFamily="34" charset="0"/>
            </a:endParaRPr>
          </a:p>
        </p:txBody>
      </p:sp>
      <p:sp>
        <p:nvSpPr>
          <p:cNvPr id="8" name="TextBox 7">
            <a:extLst>
              <a:ext uri="{FF2B5EF4-FFF2-40B4-BE49-F238E27FC236}">
                <a16:creationId xmlns:a16="http://schemas.microsoft.com/office/drawing/2014/main" id="{04AA3A19-4FED-BEA5-F79E-16FDC86F8A11}"/>
              </a:ext>
            </a:extLst>
          </p:cNvPr>
          <p:cNvSpPr txBox="1"/>
          <p:nvPr/>
        </p:nvSpPr>
        <p:spPr>
          <a:xfrm>
            <a:off x="3810000" y="2668961"/>
            <a:ext cx="12246428" cy="830997"/>
          </a:xfrm>
          <a:prstGeom prst="rect">
            <a:avLst/>
          </a:prstGeom>
          <a:noFill/>
        </p:spPr>
        <p:txBody>
          <a:bodyPr wrap="square">
            <a:spAutoFit/>
          </a:bodyPr>
          <a:lstStyle/>
          <a:p>
            <a:r>
              <a:rPr lang="en-IN" sz="2400" dirty="0">
                <a:latin typeface="Maiandra GD" panose="020E0502030308020204" pitchFamily="34" charset="0"/>
              </a:rPr>
              <a:t>Many travellers know they want a break but don’t know where to go that fits their time, budget, and interests.</a:t>
            </a:r>
          </a:p>
        </p:txBody>
      </p:sp>
      <p:sp>
        <p:nvSpPr>
          <p:cNvPr id="10" name="TextBox 9">
            <a:extLst>
              <a:ext uri="{FF2B5EF4-FFF2-40B4-BE49-F238E27FC236}">
                <a16:creationId xmlns:a16="http://schemas.microsoft.com/office/drawing/2014/main" id="{1A712564-FC71-BA8B-7120-A88E30BEEC72}"/>
              </a:ext>
            </a:extLst>
          </p:cNvPr>
          <p:cNvSpPr txBox="1"/>
          <p:nvPr/>
        </p:nvSpPr>
        <p:spPr>
          <a:xfrm>
            <a:off x="3810000" y="3805064"/>
            <a:ext cx="12246428" cy="461665"/>
          </a:xfrm>
          <a:prstGeom prst="rect">
            <a:avLst/>
          </a:prstGeom>
          <a:noFill/>
        </p:spPr>
        <p:txBody>
          <a:bodyPr wrap="square">
            <a:spAutoFit/>
          </a:bodyPr>
          <a:lstStyle/>
          <a:p>
            <a:r>
              <a:rPr lang="en-IN" sz="2400" dirty="0">
                <a:latin typeface="Maiandra GD" panose="020E0502030308020204" pitchFamily="34" charset="0"/>
              </a:rPr>
              <a:t>It’s hard to estimate the total trip cost before travelling</a:t>
            </a:r>
          </a:p>
        </p:txBody>
      </p:sp>
      <p:sp>
        <p:nvSpPr>
          <p:cNvPr id="12" name="TextBox 11">
            <a:extLst>
              <a:ext uri="{FF2B5EF4-FFF2-40B4-BE49-F238E27FC236}">
                <a16:creationId xmlns:a16="http://schemas.microsoft.com/office/drawing/2014/main" id="{E226D4F3-24A9-BBB2-706F-4931B80F3643}"/>
              </a:ext>
            </a:extLst>
          </p:cNvPr>
          <p:cNvSpPr txBox="1"/>
          <p:nvPr/>
        </p:nvSpPr>
        <p:spPr>
          <a:xfrm>
            <a:off x="3794760" y="4210323"/>
            <a:ext cx="9118938" cy="4154984"/>
          </a:xfrm>
          <a:prstGeom prst="rect">
            <a:avLst/>
          </a:prstGeom>
          <a:noFill/>
        </p:spPr>
        <p:txBody>
          <a:bodyPr wrap="square">
            <a:spAutoFit/>
          </a:bodyPr>
          <a:lstStyle/>
          <a:p>
            <a:r>
              <a:rPr lang="en-IN" sz="4800" dirty="0">
                <a:latin typeface="Maiandra GD" panose="020E0502030308020204" pitchFamily="34" charset="0"/>
              </a:rPr>
              <a:t>‣</a:t>
            </a:r>
            <a:r>
              <a:rPr lang="en-IN" sz="2400" dirty="0">
                <a:latin typeface="Maiandra GD" panose="020E0502030308020204" pitchFamily="34" charset="0"/>
              </a:rPr>
              <a:t>Curate verified destination data from official tourism APIs or reliable databases.</a:t>
            </a:r>
          </a:p>
          <a:p>
            <a:endParaRPr lang="en-IN" sz="2400" dirty="0">
              <a:latin typeface="Maiandra GD" panose="020E0502030308020204" pitchFamily="34" charset="0"/>
            </a:endParaRPr>
          </a:p>
          <a:p>
            <a:r>
              <a:rPr lang="en-IN" sz="4800" dirty="0">
                <a:latin typeface="Maiandra GD" panose="020E0502030308020204" pitchFamily="34" charset="0"/>
              </a:rPr>
              <a:t>‣</a:t>
            </a:r>
            <a:r>
              <a:rPr lang="en-IN" sz="2400" dirty="0">
                <a:latin typeface="Maiandra GD" panose="020E0502030308020204" pitchFamily="34" charset="0"/>
              </a:rPr>
              <a:t>Use AI-based filters to summarize top-rated destinations and attractions.</a:t>
            </a:r>
          </a:p>
          <a:p>
            <a:endParaRPr lang="en-IN" sz="2400" dirty="0">
              <a:latin typeface="Maiandra GD" panose="020E0502030308020204" pitchFamily="34" charset="0"/>
            </a:endParaRPr>
          </a:p>
          <a:p>
            <a:r>
              <a:rPr lang="en-IN" sz="4800" dirty="0">
                <a:latin typeface="Maiandra GD" panose="020E0502030308020204" pitchFamily="34" charset="0"/>
              </a:rPr>
              <a:t>‣</a:t>
            </a:r>
            <a:r>
              <a:rPr lang="en-IN" sz="2400" dirty="0">
                <a:latin typeface="Maiandra GD" panose="020E0502030308020204" pitchFamily="34" charset="0"/>
              </a:rPr>
              <a:t> Provide short, trustworthy descriptions instead of long blog-style texts. Include user reviews and ratings from verified travellers</a:t>
            </a:r>
          </a:p>
        </p:txBody>
      </p:sp>
      <p:sp>
        <p:nvSpPr>
          <p:cNvPr id="14" name="TextBox 13">
            <a:extLst>
              <a:ext uri="{FF2B5EF4-FFF2-40B4-BE49-F238E27FC236}">
                <a16:creationId xmlns:a16="http://schemas.microsoft.com/office/drawing/2014/main" id="{FBB6BA20-A8DC-5F82-FE6C-8CF626A4FF70}"/>
              </a:ext>
            </a:extLst>
          </p:cNvPr>
          <p:cNvSpPr txBox="1"/>
          <p:nvPr/>
        </p:nvSpPr>
        <p:spPr>
          <a:xfrm>
            <a:off x="3794760" y="8267947"/>
            <a:ext cx="12246428" cy="830997"/>
          </a:xfrm>
          <a:prstGeom prst="rect">
            <a:avLst/>
          </a:prstGeom>
          <a:noFill/>
        </p:spPr>
        <p:txBody>
          <a:bodyPr wrap="square">
            <a:spAutoFit/>
          </a:bodyPr>
          <a:lstStyle/>
          <a:p>
            <a:r>
              <a:rPr lang="en-IN" sz="4800" dirty="0"/>
              <a:t>‣</a:t>
            </a:r>
            <a:r>
              <a:rPr lang="en-IN" sz="2400" dirty="0">
                <a:latin typeface="Maiandra GD" panose="020E0502030308020204" pitchFamily="34" charset="0"/>
              </a:rPr>
              <a:t>Real-time distance and travel time</a:t>
            </a:r>
          </a:p>
        </p:txBody>
      </p:sp>
      <p:sp>
        <p:nvSpPr>
          <p:cNvPr id="16" name="TextBox 15">
            <a:extLst>
              <a:ext uri="{FF2B5EF4-FFF2-40B4-BE49-F238E27FC236}">
                <a16:creationId xmlns:a16="http://schemas.microsoft.com/office/drawing/2014/main" id="{AA9A21F0-94F1-3D57-3252-340D1BA02948}"/>
              </a:ext>
            </a:extLst>
          </p:cNvPr>
          <p:cNvSpPr txBox="1"/>
          <p:nvPr/>
        </p:nvSpPr>
        <p:spPr>
          <a:xfrm>
            <a:off x="3783874" y="8988774"/>
            <a:ext cx="12246428" cy="830997"/>
          </a:xfrm>
          <a:prstGeom prst="rect">
            <a:avLst/>
          </a:prstGeom>
          <a:noFill/>
        </p:spPr>
        <p:txBody>
          <a:bodyPr wrap="square">
            <a:spAutoFit/>
          </a:bodyPr>
          <a:lstStyle/>
          <a:p>
            <a:r>
              <a:rPr lang="en-IN" sz="4800" dirty="0"/>
              <a:t>‣</a:t>
            </a:r>
            <a:r>
              <a:rPr lang="en-IN" sz="2400" dirty="0">
                <a:latin typeface="Maiandra GD" panose="020E0502030308020204" pitchFamily="34" charset="0"/>
              </a:rPr>
              <a:t>Map view showing stay options near chosen destinations.</a:t>
            </a:r>
          </a:p>
        </p:txBody>
      </p:sp>
      <p:sp>
        <p:nvSpPr>
          <p:cNvPr id="18" name="TextBox 17">
            <a:extLst>
              <a:ext uri="{FF2B5EF4-FFF2-40B4-BE49-F238E27FC236}">
                <a16:creationId xmlns:a16="http://schemas.microsoft.com/office/drawing/2014/main" id="{1323AB73-9E35-9535-3719-7492F6D28256}"/>
              </a:ext>
            </a:extLst>
          </p:cNvPr>
          <p:cNvSpPr txBox="1"/>
          <p:nvPr/>
        </p:nvSpPr>
        <p:spPr>
          <a:xfrm>
            <a:off x="3548689" y="1094028"/>
            <a:ext cx="12246428" cy="830997"/>
          </a:xfrm>
          <a:prstGeom prst="rect">
            <a:avLst/>
          </a:prstGeom>
          <a:noFill/>
        </p:spPr>
        <p:txBody>
          <a:bodyPr wrap="square">
            <a:spAutoFit/>
          </a:bodyPr>
          <a:lstStyle/>
          <a:p>
            <a:r>
              <a:rPr lang="en-IN" sz="4800" dirty="0"/>
              <a:t>‣</a:t>
            </a:r>
          </a:p>
        </p:txBody>
      </p:sp>
      <p:sp>
        <p:nvSpPr>
          <p:cNvPr id="19" name="TextBox 18">
            <a:extLst>
              <a:ext uri="{FF2B5EF4-FFF2-40B4-BE49-F238E27FC236}">
                <a16:creationId xmlns:a16="http://schemas.microsoft.com/office/drawing/2014/main" id="{DCFBA9B2-846C-CDF6-4F83-6CC30B664F9D}"/>
              </a:ext>
            </a:extLst>
          </p:cNvPr>
          <p:cNvSpPr txBox="1"/>
          <p:nvPr/>
        </p:nvSpPr>
        <p:spPr>
          <a:xfrm>
            <a:off x="3548689" y="1784627"/>
            <a:ext cx="12246428" cy="830997"/>
          </a:xfrm>
          <a:prstGeom prst="rect">
            <a:avLst/>
          </a:prstGeom>
          <a:noFill/>
        </p:spPr>
        <p:txBody>
          <a:bodyPr wrap="square">
            <a:spAutoFit/>
          </a:bodyPr>
          <a:lstStyle/>
          <a:p>
            <a:r>
              <a:rPr lang="en-IN" sz="4800" dirty="0"/>
              <a:t>‣</a:t>
            </a:r>
          </a:p>
        </p:txBody>
      </p:sp>
      <p:sp>
        <p:nvSpPr>
          <p:cNvPr id="20" name="TextBox 19">
            <a:extLst>
              <a:ext uri="{FF2B5EF4-FFF2-40B4-BE49-F238E27FC236}">
                <a16:creationId xmlns:a16="http://schemas.microsoft.com/office/drawing/2014/main" id="{7DA67F49-DF97-06DC-86D5-058D32E26507}"/>
              </a:ext>
            </a:extLst>
          </p:cNvPr>
          <p:cNvSpPr txBox="1"/>
          <p:nvPr/>
        </p:nvSpPr>
        <p:spPr>
          <a:xfrm>
            <a:off x="3529095" y="2521203"/>
            <a:ext cx="12246428" cy="830997"/>
          </a:xfrm>
          <a:prstGeom prst="rect">
            <a:avLst/>
          </a:prstGeom>
          <a:noFill/>
        </p:spPr>
        <p:txBody>
          <a:bodyPr wrap="square">
            <a:spAutoFit/>
          </a:bodyPr>
          <a:lstStyle/>
          <a:p>
            <a:r>
              <a:rPr lang="en-IN" sz="4800" dirty="0"/>
              <a:t>‣</a:t>
            </a:r>
          </a:p>
        </p:txBody>
      </p:sp>
      <p:sp>
        <p:nvSpPr>
          <p:cNvPr id="22" name="TextBox 21">
            <a:extLst>
              <a:ext uri="{FF2B5EF4-FFF2-40B4-BE49-F238E27FC236}">
                <a16:creationId xmlns:a16="http://schemas.microsoft.com/office/drawing/2014/main" id="{F7BEFA4D-1063-1834-E73B-E64830E02AEC}"/>
              </a:ext>
            </a:extLst>
          </p:cNvPr>
          <p:cNvSpPr txBox="1"/>
          <p:nvPr/>
        </p:nvSpPr>
        <p:spPr>
          <a:xfrm>
            <a:off x="3529095" y="3632458"/>
            <a:ext cx="12217639" cy="830997"/>
          </a:xfrm>
          <a:prstGeom prst="rect">
            <a:avLst/>
          </a:prstGeom>
          <a:noFill/>
        </p:spPr>
        <p:txBody>
          <a:bodyPr wrap="square">
            <a:spAutoFit/>
          </a:bodyPr>
          <a:lstStyle/>
          <a:p>
            <a:r>
              <a:rPr lang="en-IN" sz="4800" dirty="0"/>
              <a:t>‣</a:t>
            </a:r>
          </a:p>
        </p:txBody>
      </p:sp>
      <p:sp>
        <p:nvSpPr>
          <p:cNvPr id="7" name="TextBox 6">
            <a:extLst>
              <a:ext uri="{FF2B5EF4-FFF2-40B4-BE49-F238E27FC236}">
                <a16:creationId xmlns:a16="http://schemas.microsoft.com/office/drawing/2014/main" id="{7B49C168-A085-ABEF-78BB-7E575145BFA9}"/>
              </a:ext>
            </a:extLst>
          </p:cNvPr>
          <p:cNvSpPr txBox="1"/>
          <p:nvPr/>
        </p:nvSpPr>
        <p:spPr>
          <a:xfrm>
            <a:off x="3783874" y="180858"/>
            <a:ext cx="7847406" cy="830997"/>
          </a:xfrm>
          <a:prstGeom prst="rect">
            <a:avLst/>
          </a:prstGeom>
          <a:noFill/>
        </p:spPr>
        <p:txBody>
          <a:bodyPr wrap="square" rtlCol="0">
            <a:spAutoFit/>
          </a:bodyPr>
          <a:lstStyle/>
          <a:p>
            <a:r>
              <a:rPr lang="en-US" sz="4800" dirty="0">
                <a:latin typeface="Franklin Gothic Demi" panose="020B0703020102020204" pitchFamily="34" charset="0"/>
              </a:rPr>
              <a:t>Feasibility and Viability</a:t>
            </a:r>
            <a:endParaRPr lang="en-IN" sz="4800" dirty="0">
              <a:latin typeface="Franklin Gothic Demi" panose="020B07030201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EC"/>
        </a:solidFill>
        <a:effectLst/>
      </p:bgPr>
    </p:bg>
    <p:spTree>
      <p:nvGrpSpPr>
        <p:cNvPr id="1" name=""/>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075D2162-24C5-4574-49C1-586628C66919}"/>
              </a:ext>
            </a:extLst>
          </p:cNvPr>
          <p:cNvSpPr/>
          <p:nvPr/>
        </p:nvSpPr>
        <p:spPr>
          <a:xfrm>
            <a:off x="7238694" y="1607700"/>
            <a:ext cx="3292252" cy="980312"/>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Rockwell" panose="02060603020205020403" pitchFamily="18" charset="0"/>
              </a:rPr>
              <a:t>Confused in planning</a:t>
            </a:r>
            <a:endParaRPr lang="en-IN" sz="2400" dirty="0">
              <a:solidFill>
                <a:schemeClr val="tx1"/>
              </a:solidFill>
              <a:latin typeface="Rockwell" panose="02060603020205020403" pitchFamily="18" charset="0"/>
            </a:endParaRPr>
          </a:p>
        </p:txBody>
      </p:sp>
      <p:sp>
        <p:nvSpPr>
          <p:cNvPr id="45" name="Rectangle: Rounded Corners 44">
            <a:extLst>
              <a:ext uri="{FF2B5EF4-FFF2-40B4-BE49-F238E27FC236}">
                <a16:creationId xmlns:a16="http://schemas.microsoft.com/office/drawing/2014/main" id="{731156F1-9E1F-1ECB-3FA7-359EB573CA8C}"/>
              </a:ext>
            </a:extLst>
          </p:cNvPr>
          <p:cNvSpPr/>
          <p:nvPr/>
        </p:nvSpPr>
        <p:spPr>
          <a:xfrm>
            <a:off x="7238695" y="3249911"/>
            <a:ext cx="3292251" cy="80074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Rockwell" panose="02060603020205020403" pitchFamily="18" charset="0"/>
              </a:rPr>
              <a:t>Taking preferences </a:t>
            </a:r>
            <a:endParaRPr lang="en-IN" sz="2400" dirty="0">
              <a:solidFill>
                <a:schemeClr val="tx1"/>
              </a:solidFill>
              <a:latin typeface="Rockwell" panose="02060603020205020403" pitchFamily="18" charset="0"/>
            </a:endParaRPr>
          </a:p>
        </p:txBody>
      </p:sp>
      <p:sp>
        <p:nvSpPr>
          <p:cNvPr id="56" name="Rectangle: Rounded Corners 55">
            <a:extLst>
              <a:ext uri="{FF2B5EF4-FFF2-40B4-BE49-F238E27FC236}">
                <a16:creationId xmlns:a16="http://schemas.microsoft.com/office/drawing/2014/main" id="{C1837C5C-A3DF-2CB7-F4CA-52AD25A7A1E1}"/>
              </a:ext>
            </a:extLst>
          </p:cNvPr>
          <p:cNvSpPr/>
          <p:nvPr/>
        </p:nvSpPr>
        <p:spPr>
          <a:xfrm>
            <a:off x="6781800" y="4833450"/>
            <a:ext cx="4428201" cy="800747"/>
          </a:xfrm>
          <a:prstGeom prst="round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sz="2400" dirty="0">
                <a:latin typeface="Rockwell" panose="02060603020205020403" pitchFamily="18" charset="0"/>
              </a:rPr>
              <a:t>Travel </a:t>
            </a:r>
            <a:r>
              <a:rPr lang="en-US" sz="2400" dirty="0" err="1">
                <a:latin typeface="Rockwell" panose="02060603020205020403" pitchFamily="18" charset="0"/>
              </a:rPr>
              <a:t>companion,distance</a:t>
            </a:r>
            <a:r>
              <a:rPr lang="en-US" sz="2400" dirty="0">
                <a:latin typeface="Rockwell" panose="02060603020205020403" pitchFamily="18" charset="0"/>
              </a:rPr>
              <a:t> range….</a:t>
            </a:r>
            <a:r>
              <a:rPr lang="en-US" sz="2400" dirty="0" err="1">
                <a:latin typeface="Rockwell" panose="02060603020205020403" pitchFamily="18" charset="0"/>
              </a:rPr>
              <a:t>etc</a:t>
            </a:r>
            <a:r>
              <a:rPr lang="en-US" sz="2400" dirty="0">
                <a:latin typeface="Rockwell" panose="02060603020205020403" pitchFamily="18" charset="0"/>
              </a:rPr>
              <a:t> </a:t>
            </a:r>
            <a:endParaRPr lang="en-IN" sz="2400" dirty="0">
              <a:latin typeface="Rockwell" panose="02060603020205020403" pitchFamily="18" charset="0"/>
            </a:endParaRPr>
          </a:p>
        </p:txBody>
      </p:sp>
      <p:grpSp>
        <p:nvGrpSpPr>
          <p:cNvPr id="73" name="Group 4">
            <a:extLst>
              <a:ext uri="{FF2B5EF4-FFF2-40B4-BE49-F238E27FC236}">
                <a16:creationId xmlns:a16="http://schemas.microsoft.com/office/drawing/2014/main" id="{2F44CC45-A6F4-2803-BAED-9F05CC150D3E}"/>
              </a:ext>
            </a:extLst>
          </p:cNvPr>
          <p:cNvGrpSpPr/>
          <p:nvPr/>
        </p:nvGrpSpPr>
        <p:grpSpPr>
          <a:xfrm rot="5400000">
            <a:off x="12148137" y="-2431038"/>
            <a:ext cx="4760373" cy="4760373"/>
            <a:chOff x="0" y="0"/>
            <a:chExt cx="812800" cy="812800"/>
          </a:xfrm>
        </p:grpSpPr>
        <p:sp>
          <p:nvSpPr>
            <p:cNvPr id="74" name="Freeform 5">
              <a:extLst>
                <a:ext uri="{FF2B5EF4-FFF2-40B4-BE49-F238E27FC236}">
                  <a16:creationId xmlns:a16="http://schemas.microsoft.com/office/drawing/2014/main" id="{BFB15891-0ACD-18A6-2A3E-2AC8D45465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75" name="TextBox 6">
              <a:extLst>
                <a:ext uri="{FF2B5EF4-FFF2-40B4-BE49-F238E27FC236}">
                  <a16:creationId xmlns:a16="http://schemas.microsoft.com/office/drawing/2014/main" id="{17DB3DD0-D3F5-7906-16B0-2C32B3AA39D3}"/>
                </a:ext>
              </a:extLst>
            </p:cNvPr>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76" name="Freeform 10">
            <a:extLst>
              <a:ext uri="{FF2B5EF4-FFF2-40B4-BE49-F238E27FC236}">
                <a16:creationId xmlns:a16="http://schemas.microsoft.com/office/drawing/2014/main" id="{7754ADB0-F5CC-1F0C-748E-894F3A338989}"/>
              </a:ext>
            </a:extLst>
          </p:cNvPr>
          <p:cNvSpPr/>
          <p:nvPr/>
        </p:nvSpPr>
        <p:spPr>
          <a:xfrm flipV="1">
            <a:off x="12720073" y="-201950"/>
            <a:ext cx="3616500" cy="1808250"/>
          </a:xfrm>
          <a:custGeom>
            <a:avLst/>
            <a:gdLst/>
            <a:ahLst/>
            <a:cxnLst/>
            <a:rect l="l" t="t" r="r" b="b"/>
            <a:pathLst>
              <a:path w="3616500" h="1808250">
                <a:moveTo>
                  <a:pt x="0" y="1808250"/>
                </a:moveTo>
                <a:lnTo>
                  <a:pt x="3616500" y="1808250"/>
                </a:lnTo>
                <a:lnTo>
                  <a:pt x="3616500" y="0"/>
                </a:lnTo>
                <a:lnTo>
                  <a:pt x="0" y="0"/>
                </a:lnTo>
                <a:lnTo>
                  <a:pt x="0" y="180825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2" name="Group 2">
            <a:extLst>
              <a:ext uri="{FF2B5EF4-FFF2-40B4-BE49-F238E27FC236}">
                <a16:creationId xmlns:a16="http://schemas.microsoft.com/office/drawing/2014/main" id="{A33A91A6-E49C-9B8E-C39A-F7709E82E234}"/>
              </a:ext>
            </a:extLst>
          </p:cNvPr>
          <p:cNvGrpSpPr/>
          <p:nvPr/>
        </p:nvGrpSpPr>
        <p:grpSpPr>
          <a:xfrm>
            <a:off x="-1223217" y="5143500"/>
            <a:ext cx="2446433" cy="2446433"/>
            <a:chOff x="0" y="0"/>
            <a:chExt cx="812800" cy="812800"/>
          </a:xfrm>
        </p:grpSpPr>
        <p:sp>
          <p:nvSpPr>
            <p:cNvPr id="83" name="Freeform 3">
              <a:extLst>
                <a:ext uri="{FF2B5EF4-FFF2-40B4-BE49-F238E27FC236}">
                  <a16:creationId xmlns:a16="http://schemas.microsoft.com/office/drawing/2014/main" id="{7C2EC888-F882-FDDD-DF1D-D6550292AF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84" name="TextBox 4">
              <a:extLst>
                <a:ext uri="{FF2B5EF4-FFF2-40B4-BE49-F238E27FC236}">
                  <a16:creationId xmlns:a16="http://schemas.microsoft.com/office/drawing/2014/main" id="{4458D6FF-936F-BEFF-31E1-C5FEBFBBBE9F}"/>
                </a:ext>
              </a:extLst>
            </p:cNvPr>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85" name="Freeform 11">
            <a:extLst>
              <a:ext uri="{FF2B5EF4-FFF2-40B4-BE49-F238E27FC236}">
                <a16:creationId xmlns:a16="http://schemas.microsoft.com/office/drawing/2014/main" id="{A05B0C8B-9047-EC08-53BD-5394CFE632AA}"/>
              </a:ext>
            </a:extLst>
          </p:cNvPr>
          <p:cNvSpPr/>
          <p:nvPr/>
        </p:nvSpPr>
        <p:spPr>
          <a:xfrm rot="16200000" flipV="1">
            <a:off x="-542296" y="5902072"/>
            <a:ext cx="1858578" cy="929289"/>
          </a:xfrm>
          <a:custGeom>
            <a:avLst/>
            <a:gdLst/>
            <a:ahLst/>
            <a:cxnLst/>
            <a:rect l="l" t="t" r="r" b="b"/>
            <a:pathLst>
              <a:path w="1858578" h="929289">
                <a:moveTo>
                  <a:pt x="0" y="929289"/>
                </a:moveTo>
                <a:lnTo>
                  <a:pt x="1858578" y="929289"/>
                </a:lnTo>
                <a:lnTo>
                  <a:pt x="1858578" y="0"/>
                </a:lnTo>
                <a:lnTo>
                  <a:pt x="0" y="0"/>
                </a:lnTo>
                <a:lnTo>
                  <a:pt x="0" y="92928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6" name="Freeform 12">
            <a:extLst>
              <a:ext uri="{FF2B5EF4-FFF2-40B4-BE49-F238E27FC236}">
                <a16:creationId xmlns:a16="http://schemas.microsoft.com/office/drawing/2014/main" id="{D1A07BAD-4AEF-0158-2833-D29582538BFB}"/>
              </a:ext>
            </a:extLst>
          </p:cNvPr>
          <p:cNvSpPr/>
          <p:nvPr/>
        </p:nvSpPr>
        <p:spPr>
          <a:xfrm>
            <a:off x="908993" y="6081068"/>
            <a:ext cx="571298" cy="571298"/>
          </a:xfrm>
          <a:custGeom>
            <a:avLst/>
            <a:gdLst/>
            <a:ahLst/>
            <a:cxnLst/>
            <a:rect l="l" t="t" r="r" b="b"/>
            <a:pathLst>
              <a:path w="571298" h="571298">
                <a:moveTo>
                  <a:pt x="0" y="0"/>
                </a:moveTo>
                <a:lnTo>
                  <a:pt x="571298" y="0"/>
                </a:lnTo>
                <a:lnTo>
                  <a:pt x="571298" y="571298"/>
                </a:lnTo>
                <a:lnTo>
                  <a:pt x="0" y="5712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7" name="Freeform 3">
            <a:extLst>
              <a:ext uri="{FF2B5EF4-FFF2-40B4-BE49-F238E27FC236}">
                <a16:creationId xmlns:a16="http://schemas.microsoft.com/office/drawing/2014/main" id="{CEDEE79B-DBFB-5FF8-88F6-B8B380F756CD}"/>
              </a:ext>
            </a:extLst>
          </p:cNvPr>
          <p:cNvSpPr/>
          <p:nvPr/>
        </p:nvSpPr>
        <p:spPr>
          <a:xfrm rot="10800000">
            <a:off x="-2552669" y="-2308792"/>
            <a:ext cx="6010980" cy="6674984"/>
          </a:xfrm>
          <a:custGeom>
            <a:avLst/>
            <a:gdLst/>
            <a:ahLst/>
            <a:cxnLst/>
            <a:rect l="l" t="t" r="r" b="b"/>
            <a:pathLst>
              <a:path w="6010980" h="6674984">
                <a:moveTo>
                  <a:pt x="0" y="0"/>
                </a:moveTo>
                <a:lnTo>
                  <a:pt x="6010980" y="0"/>
                </a:lnTo>
                <a:lnTo>
                  <a:pt x="6010980" y="6674984"/>
                </a:lnTo>
                <a:lnTo>
                  <a:pt x="0" y="66749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8" name="Freeform 4">
            <a:extLst>
              <a:ext uri="{FF2B5EF4-FFF2-40B4-BE49-F238E27FC236}">
                <a16:creationId xmlns:a16="http://schemas.microsoft.com/office/drawing/2014/main" id="{D9F5EA5F-39C9-63CC-034A-E687892E1910}"/>
              </a:ext>
            </a:extLst>
          </p:cNvPr>
          <p:cNvSpPr/>
          <p:nvPr/>
        </p:nvSpPr>
        <p:spPr>
          <a:xfrm flipV="1">
            <a:off x="-1630465" y="-4902785"/>
            <a:ext cx="4166573" cy="8333147"/>
          </a:xfrm>
          <a:custGeom>
            <a:avLst/>
            <a:gdLst/>
            <a:ahLst/>
            <a:cxnLst/>
            <a:rect l="l" t="t" r="r" b="b"/>
            <a:pathLst>
              <a:path w="4166573" h="8333147">
                <a:moveTo>
                  <a:pt x="0" y="8333146"/>
                </a:moveTo>
                <a:lnTo>
                  <a:pt x="4166573" y="8333146"/>
                </a:lnTo>
                <a:lnTo>
                  <a:pt x="4166573" y="0"/>
                </a:lnTo>
                <a:lnTo>
                  <a:pt x="0" y="0"/>
                </a:lnTo>
                <a:lnTo>
                  <a:pt x="0" y="8333146"/>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9" name="Freeform 18">
            <a:extLst>
              <a:ext uri="{FF2B5EF4-FFF2-40B4-BE49-F238E27FC236}">
                <a16:creationId xmlns:a16="http://schemas.microsoft.com/office/drawing/2014/main" id="{DD5C08A0-55F5-DFF0-79E0-F796FEA88A2F}"/>
              </a:ext>
            </a:extLst>
          </p:cNvPr>
          <p:cNvSpPr/>
          <p:nvPr/>
        </p:nvSpPr>
        <p:spPr>
          <a:xfrm rot="20425076">
            <a:off x="15371408" y="7331950"/>
            <a:ext cx="3635604" cy="1870683"/>
          </a:xfrm>
          <a:custGeom>
            <a:avLst/>
            <a:gdLst/>
            <a:ahLst/>
            <a:cxnLst/>
            <a:rect l="l" t="t" r="r" b="b"/>
            <a:pathLst>
              <a:path w="3635604" h="1870683">
                <a:moveTo>
                  <a:pt x="0" y="0"/>
                </a:moveTo>
                <a:lnTo>
                  <a:pt x="3635603" y="0"/>
                </a:lnTo>
                <a:lnTo>
                  <a:pt x="3635603" y="1870683"/>
                </a:lnTo>
                <a:lnTo>
                  <a:pt x="0" y="187068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 name="Rectangle: Rounded Corners 1">
            <a:extLst>
              <a:ext uri="{FF2B5EF4-FFF2-40B4-BE49-F238E27FC236}">
                <a16:creationId xmlns:a16="http://schemas.microsoft.com/office/drawing/2014/main" id="{86E03F53-9289-FCA3-B7A6-C15A9F87C12E}"/>
              </a:ext>
            </a:extLst>
          </p:cNvPr>
          <p:cNvSpPr/>
          <p:nvPr/>
        </p:nvSpPr>
        <p:spPr>
          <a:xfrm>
            <a:off x="7238698" y="6373426"/>
            <a:ext cx="3292251" cy="129540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latin typeface="Rockwell" panose="02060603020205020403" pitchFamily="18" charset="0"/>
              </a:rPr>
              <a:t>Categorize and shortlist according to preferences</a:t>
            </a:r>
            <a:endParaRPr lang="en-IN" sz="2400" dirty="0">
              <a:solidFill>
                <a:sysClr val="windowText" lastClr="000000"/>
              </a:solidFill>
              <a:latin typeface="Rockwell" panose="02060603020205020403" pitchFamily="18" charset="0"/>
            </a:endParaRPr>
          </a:p>
        </p:txBody>
      </p:sp>
      <p:sp>
        <p:nvSpPr>
          <p:cNvPr id="12" name="Rectangle: Rounded Corners 11">
            <a:extLst>
              <a:ext uri="{FF2B5EF4-FFF2-40B4-BE49-F238E27FC236}">
                <a16:creationId xmlns:a16="http://schemas.microsoft.com/office/drawing/2014/main" id="{74CDD907-6116-7733-3910-3F79DA9F52E6}"/>
              </a:ext>
            </a:extLst>
          </p:cNvPr>
          <p:cNvSpPr/>
          <p:nvPr/>
        </p:nvSpPr>
        <p:spPr>
          <a:xfrm>
            <a:off x="7238703" y="8527828"/>
            <a:ext cx="3292243" cy="1139602"/>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Rockwell" panose="02060603020205020403" pitchFamily="18" charset="0"/>
              </a:rPr>
              <a:t>Output of best places with respect to their preferences</a:t>
            </a:r>
            <a:endParaRPr lang="en-IN" sz="2400" dirty="0">
              <a:solidFill>
                <a:schemeClr val="tx1"/>
              </a:solidFill>
              <a:latin typeface="Rockwell" panose="02060603020205020403" pitchFamily="18" charset="0"/>
            </a:endParaRPr>
          </a:p>
        </p:txBody>
      </p:sp>
      <p:cxnSp>
        <p:nvCxnSpPr>
          <p:cNvPr id="14" name="Straight Arrow Connector 13">
            <a:extLst>
              <a:ext uri="{FF2B5EF4-FFF2-40B4-BE49-F238E27FC236}">
                <a16:creationId xmlns:a16="http://schemas.microsoft.com/office/drawing/2014/main" id="{89F88E1D-0F29-4FF6-9AFD-755EC3CBBA3D}"/>
              </a:ext>
            </a:extLst>
          </p:cNvPr>
          <p:cNvCxnSpPr>
            <a:stCxn id="33" idx="2"/>
            <a:endCxn id="45" idx="0"/>
          </p:cNvCxnSpPr>
          <p:nvPr/>
        </p:nvCxnSpPr>
        <p:spPr>
          <a:xfrm>
            <a:off x="8884820" y="2588012"/>
            <a:ext cx="1" cy="6618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A4D694AD-4F1B-8C2D-9789-464A841063E4}"/>
              </a:ext>
            </a:extLst>
          </p:cNvPr>
          <p:cNvCxnSpPr/>
          <p:nvPr/>
        </p:nvCxnSpPr>
        <p:spPr>
          <a:xfrm>
            <a:off x="8884819" y="4073000"/>
            <a:ext cx="1" cy="6618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2595A083-907D-26DD-9F4B-C084D7BC78FB}"/>
              </a:ext>
            </a:extLst>
          </p:cNvPr>
          <p:cNvCxnSpPr/>
          <p:nvPr/>
        </p:nvCxnSpPr>
        <p:spPr>
          <a:xfrm>
            <a:off x="8884819" y="5641791"/>
            <a:ext cx="1" cy="6618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926327BF-9A2D-1E7D-7978-1DBD86B4E193}"/>
              </a:ext>
            </a:extLst>
          </p:cNvPr>
          <p:cNvCxnSpPr>
            <a:stCxn id="2" idx="2"/>
            <a:endCxn id="12" idx="0"/>
          </p:cNvCxnSpPr>
          <p:nvPr/>
        </p:nvCxnSpPr>
        <p:spPr>
          <a:xfrm>
            <a:off x="8884824" y="7668826"/>
            <a:ext cx="1" cy="8590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4F15935B-95E7-EEA9-96A8-D6ED145F525A}"/>
              </a:ext>
            </a:extLst>
          </p:cNvPr>
          <p:cNvSpPr txBox="1"/>
          <p:nvPr/>
        </p:nvSpPr>
        <p:spPr>
          <a:xfrm>
            <a:off x="7449664" y="385307"/>
            <a:ext cx="4617619" cy="830997"/>
          </a:xfrm>
          <a:prstGeom prst="rect">
            <a:avLst/>
          </a:prstGeom>
          <a:noFill/>
        </p:spPr>
        <p:txBody>
          <a:bodyPr wrap="square" rtlCol="0">
            <a:spAutoFit/>
          </a:bodyPr>
          <a:lstStyle/>
          <a:p>
            <a:r>
              <a:rPr lang="en-US" sz="4800" dirty="0">
                <a:latin typeface="Franklin Gothic Demi" panose="020B0703020102020204" pitchFamily="34" charset="0"/>
              </a:rPr>
              <a:t>Work Flow</a:t>
            </a:r>
            <a:endParaRPr lang="en-IN" sz="4800" dirty="0">
              <a:latin typeface="Franklin Gothic Demi" panose="020B0703020102020204" pitchFamily="34" charset="0"/>
            </a:endParaRPr>
          </a:p>
        </p:txBody>
      </p:sp>
      <p:sp>
        <p:nvSpPr>
          <p:cNvPr id="5" name="TextBox 4">
            <a:extLst>
              <a:ext uri="{FF2B5EF4-FFF2-40B4-BE49-F238E27FC236}">
                <a16:creationId xmlns:a16="http://schemas.microsoft.com/office/drawing/2014/main" id="{BDA93D79-A62B-5455-1407-8C51198198E3}"/>
              </a:ext>
            </a:extLst>
          </p:cNvPr>
          <p:cNvSpPr txBox="1"/>
          <p:nvPr/>
        </p:nvSpPr>
        <p:spPr>
          <a:xfrm>
            <a:off x="2893423" y="2512814"/>
            <a:ext cx="10881360" cy="369332"/>
          </a:xfrm>
          <a:prstGeom prst="rect">
            <a:avLst/>
          </a:prstGeom>
          <a:noFill/>
        </p:spPr>
        <p:txBody>
          <a:bodyPr wrap="square">
            <a:spAutoFit/>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4A2EE-1169-A44B-3FA3-7066C0C44209}"/>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0BF4FB13-3770-49C9-43B0-2E11AC5412BD}"/>
              </a:ext>
            </a:extLst>
          </p:cNvPr>
          <p:cNvGrpSpPr/>
          <p:nvPr/>
        </p:nvGrpSpPr>
        <p:grpSpPr>
          <a:xfrm>
            <a:off x="228600" y="1238718"/>
            <a:ext cx="13480969" cy="4886338"/>
            <a:chOff x="0" y="0"/>
            <a:chExt cx="3866217" cy="1286937"/>
          </a:xfrm>
        </p:grpSpPr>
        <p:sp>
          <p:nvSpPr>
            <p:cNvPr id="4" name="Freeform 4">
              <a:extLst>
                <a:ext uri="{FF2B5EF4-FFF2-40B4-BE49-F238E27FC236}">
                  <a16:creationId xmlns:a16="http://schemas.microsoft.com/office/drawing/2014/main" id="{F1BDB0F6-D6F3-E0CA-593E-1964EA6DD4A6}"/>
                </a:ext>
              </a:extLst>
            </p:cNvPr>
            <p:cNvSpPr/>
            <p:nvPr/>
          </p:nvSpPr>
          <p:spPr>
            <a:xfrm>
              <a:off x="0" y="0"/>
              <a:ext cx="3866217" cy="1286937"/>
            </a:xfrm>
            <a:custGeom>
              <a:avLst/>
              <a:gdLst/>
              <a:ahLst/>
              <a:cxnLst/>
              <a:rect l="l" t="t" r="r" b="b"/>
              <a:pathLst>
                <a:path w="3866217" h="1286937">
                  <a:moveTo>
                    <a:pt x="11603" y="0"/>
                  </a:moveTo>
                  <a:lnTo>
                    <a:pt x="3854614" y="0"/>
                  </a:lnTo>
                  <a:cubicBezTo>
                    <a:pt x="3857692" y="0"/>
                    <a:pt x="3860643" y="1222"/>
                    <a:pt x="3862819" y="3398"/>
                  </a:cubicBezTo>
                  <a:cubicBezTo>
                    <a:pt x="3864995" y="5574"/>
                    <a:pt x="3866217" y="8525"/>
                    <a:pt x="3866217" y="11603"/>
                  </a:cubicBezTo>
                  <a:lnTo>
                    <a:pt x="3866217" y="1275334"/>
                  </a:lnTo>
                  <a:cubicBezTo>
                    <a:pt x="3866217" y="1278411"/>
                    <a:pt x="3864995" y="1281362"/>
                    <a:pt x="3862819" y="1283538"/>
                  </a:cubicBezTo>
                  <a:cubicBezTo>
                    <a:pt x="3860643" y="1285714"/>
                    <a:pt x="3857692" y="1286937"/>
                    <a:pt x="3854614" y="1286937"/>
                  </a:cubicBezTo>
                  <a:lnTo>
                    <a:pt x="11603" y="1286937"/>
                  </a:lnTo>
                  <a:cubicBezTo>
                    <a:pt x="8525" y="1286937"/>
                    <a:pt x="5574" y="1285714"/>
                    <a:pt x="3398" y="1283538"/>
                  </a:cubicBezTo>
                  <a:cubicBezTo>
                    <a:pt x="1222" y="1281362"/>
                    <a:pt x="0" y="1278411"/>
                    <a:pt x="0" y="1275334"/>
                  </a:cubicBezTo>
                  <a:lnTo>
                    <a:pt x="0" y="11603"/>
                  </a:lnTo>
                  <a:cubicBezTo>
                    <a:pt x="0" y="8525"/>
                    <a:pt x="1222" y="5574"/>
                    <a:pt x="3398" y="3398"/>
                  </a:cubicBezTo>
                  <a:cubicBezTo>
                    <a:pt x="5574" y="1222"/>
                    <a:pt x="8525" y="0"/>
                    <a:pt x="11603" y="0"/>
                  </a:cubicBezTo>
                  <a:close/>
                </a:path>
              </a:pathLst>
            </a:custGeom>
            <a:solidFill>
              <a:srgbClr val="EBC43A"/>
            </a:solidFill>
          </p:spPr>
        </p:sp>
        <p:sp>
          <p:nvSpPr>
            <p:cNvPr id="5" name="TextBox 5">
              <a:extLst>
                <a:ext uri="{FF2B5EF4-FFF2-40B4-BE49-F238E27FC236}">
                  <a16:creationId xmlns:a16="http://schemas.microsoft.com/office/drawing/2014/main" id="{2FC2047D-5E4E-FE6C-9740-B1BBD40BA21F}"/>
                </a:ext>
              </a:extLst>
            </p:cNvPr>
            <p:cNvSpPr txBox="1"/>
            <p:nvPr/>
          </p:nvSpPr>
          <p:spPr>
            <a:xfrm>
              <a:off x="0" y="-66675"/>
              <a:ext cx="3866217" cy="1353612"/>
            </a:xfrm>
            <a:prstGeom prst="rect">
              <a:avLst/>
            </a:prstGeom>
          </p:spPr>
          <p:txBody>
            <a:bodyPr lIns="50800" tIns="50800" rIns="50800" bIns="50800" rtlCol="0" anchor="ctr"/>
            <a:lstStyle/>
            <a:p>
              <a:pPr algn="ctr">
                <a:lnSpc>
                  <a:spcPts val="2800"/>
                </a:lnSpc>
              </a:pPr>
              <a:endParaRPr/>
            </a:p>
          </p:txBody>
        </p:sp>
      </p:grpSp>
      <p:sp>
        <p:nvSpPr>
          <p:cNvPr id="18" name="TextBox 18">
            <a:extLst>
              <a:ext uri="{FF2B5EF4-FFF2-40B4-BE49-F238E27FC236}">
                <a16:creationId xmlns:a16="http://schemas.microsoft.com/office/drawing/2014/main" id="{7A52B9A9-DBB1-93AB-940B-B5113D5C5B7E}"/>
              </a:ext>
            </a:extLst>
          </p:cNvPr>
          <p:cNvSpPr txBox="1"/>
          <p:nvPr/>
        </p:nvSpPr>
        <p:spPr>
          <a:xfrm>
            <a:off x="914400" y="350398"/>
            <a:ext cx="11734800" cy="888320"/>
          </a:xfrm>
          <a:prstGeom prst="rect">
            <a:avLst/>
          </a:prstGeom>
        </p:spPr>
        <p:txBody>
          <a:bodyPr wrap="square" lIns="0" tIns="0" rIns="0" bIns="0" rtlCol="0" anchor="t">
            <a:spAutoFit/>
          </a:bodyPr>
          <a:lstStyle/>
          <a:p>
            <a:pPr algn="l">
              <a:lnSpc>
                <a:spcPts val="6800"/>
              </a:lnSpc>
            </a:pPr>
            <a:r>
              <a:rPr lang="en-US" sz="6800" b="1" dirty="0">
                <a:solidFill>
                  <a:srgbClr val="000000"/>
                </a:solidFill>
                <a:latin typeface="Agrandir Bold"/>
                <a:ea typeface="Agrandir Bold"/>
                <a:cs typeface="Agrandir Bold"/>
                <a:sym typeface="Agrandir Bold"/>
              </a:rPr>
              <a:t>Future Implementation</a:t>
            </a:r>
          </a:p>
        </p:txBody>
      </p:sp>
      <p:sp>
        <p:nvSpPr>
          <p:cNvPr id="19" name="Freeform 19">
            <a:extLst>
              <a:ext uri="{FF2B5EF4-FFF2-40B4-BE49-F238E27FC236}">
                <a16:creationId xmlns:a16="http://schemas.microsoft.com/office/drawing/2014/main" id="{C0E4F549-5D50-B117-C679-CF505073050E}"/>
              </a:ext>
            </a:extLst>
          </p:cNvPr>
          <p:cNvSpPr/>
          <p:nvPr/>
        </p:nvSpPr>
        <p:spPr>
          <a:xfrm rot="-1531640">
            <a:off x="11011516" y="9655233"/>
            <a:ext cx="7315200" cy="1263535"/>
          </a:xfrm>
          <a:custGeom>
            <a:avLst/>
            <a:gdLst/>
            <a:ahLst/>
            <a:cxnLst/>
            <a:rect l="l" t="t" r="r" b="b"/>
            <a:pathLst>
              <a:path w="7315200" h="1263535">
                <a:moveTo>
                  <a:pt x="0" y="0"/>
                </a:moveTo>
                <a:lnTo>
                  <a:pt x="7315200" y="0"/>
                </a:lnTo>
                <a:lnTo>
                  <a:pt x="7315200" y="1263534"/>
                </a:lnTo>
                <a:lnTo>
                  <a:pt x="0" y="1263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TextBox 20">
            <a:extLst>
              <a:ext uri="{FF2B5EF4-FFF2-40B4-BE49-F238E27FC236}">
                <a16:creationId xmlns:a16="http://schemas.microsoft.com/office/drawing/2014/main" id="{7B211E5E-27C4-647A-1D3F-AF2C512C1D61}"/>
              </a:ext>
            </a:extLst>
          </p:cNvPr>
          <p:cNvSpPr txBox="1"/>
          <p:nvPr/>
        </p:nvSpPr>
        <p:spPr>
          <a:xfrm>
            <a:off x="7924800" y="1873881"/>
            <a:ext cx="5488899" cy="3785652"/>
          </a:xfrm>
          <a:prstGeom prst="rect">
            <a:avLst/>
          </a:prstGeom>
          <a:noFill/>
        </p:spPr>
        <p:txBody>
          <a:bodyPr wrap="square" rtlCol="0">
            <a:spAutoFit/>
          </a:bodyPr>
          <a:lstStyle/>
          <a:p>
            <a:r>
              <a:rPr lang="en-US" sz="2400" dirty="0"/>
              <a:t>• India sees around 10 million tourists yearly. </a:t>
            </a:r>
          </a:p>
          <a:p>
            <a:r>
              <a:rPr lang="en-US" sz="2400" dirty="0"/>
              <a:t>• A 2023 survey showed up 40% tourists have safety concerns </a:t>
            </a:r>
          </a:p>
          <a:p>
            <a:r>
              <a:rPr lang="en-US" sz="2400" dirty="0"/>
              <a:t>• Tourists in India face:</a:t>
            </a:r>
          </a:p>
          <a:p>
            <a:r>
              <a:rPr lang="en-US" sz="2400" dirty="0"/>
              <a:t>• Scams </a:t>
            </a:r>
          </a:p>
          <a:p>
            <a:r>
              <a:rPr lang="en-US" sz="2400" dirty="0"/>
              <a:t>• Overcharging </a:t>
            </a:r>
          </a:p>
          <a:p>
            <a:r>
              <a:rPr lang="en-US" sz="2400" dirty="0"/>
              <a:t>• Harassment </a:t>
            </a:r>
          </a:p>
          <a:p>
            <a:r>
              <a:rPr lang="en-US" sz="2400" dirty="0"/>
              <a:t>• Poor safety measures </a:t>
            </a:r>
          </a:p>
          <a:p>
            <a:r>
              <a:rPr lang="en-US" sz="2400" dirty="0"/>
              <a:t>• Cultural misunderstandings</a:t>
            </a:r>
            <a:endParaRPr lang="en-IN" sz="2400" dirty="0"/>
          </a:p>
        </p:txBody>
      </p:sp>
      <p:pic>
        <p:nvPicPr>
          <p:cNvPr id="27" name="Picture 26" descr="A collage of people with two people sitting on a ledge&#10;&#10;AI-generated content may be incorrect.">
            <a:extLst>
              <a:ext uri="{FF2B5EF4-FFF2-40B4-BE49-F238E27FC236}">
                <a16:creationId xmlns:a16="http://schemas.microsoft.com/office/drawing/2014/main" id="{90D9F81E-D96E-3E28-8CB5-ADFD2E31E0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1801854"/>
            <a:ext cx="6690067" cy="3760065"/>
          </a:xfrm>
          <a:prstGeom prst="rect">
            <a:avLst/>
          </a:prstGeom>
          <a:ln w="228600" cap="sq" cmpd="thickThin">
            <a:solidFill>
              <a:srgbClr val="000000"/>
            </a:solidFill>
            <a:prstDash val="solid"/>
            <a:miter lim="800000"/>
          </a:ln>
          <a:effectLst>
            <a:innerShdw blurRad="76200">
              <a:srgbClr val="000000"/>
            </a:innerShdw>
          </a:effectLst>
        </p:spPr>
      </p:pic>
      <p:pic>
        <p:nvPicPr>
          <p:cNvPr id="6" name="Picture 5" descr="A graph of blue bars">
            <a:extLst>
              <a:ext uri="{FF2B5EF4-FFF2-40B4-BE49-F238E27FC236}">
                <a16:creationId xmlns:a16="http://schemas.microsoft.com/office/drawing/2014/main" id="{C56AF761-0192-43A3-84F3-30D7B34E7F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82200" y="6270581"/>
            <a:ext cx="6553200" cy="37415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EC1DDA34-2923-7C28-6699-27A76FADFEA5}"/>
              </a:ext>
            </a:extLst>
          </p:cNvPr>
          <p:cNvSpPr txBox="1"/>
          <p:nvPr/>
        </p:nvSpPr>
        <p:spPr>
          <a:xfrm>
            <a:off x="533400" y="6688192"/>
            <a:ext cx="9182100" cy="3323987"/>
          </a:xfrm>
          <a:prstGeom prst="rect">
            <a:avLst/>
          </a:prstGeom>
          <a:noFill/>
        </p:spPr>
        <p:txBody>
          <a:bodyPr wrap="square">
            <a:spAutoFit/>
          </a:bodyPr>
          <a:lstStyle/>
          <a:p>
            <a:pPr>
              <a:lnSpc>
                <a:spcPts val="2800"/>
              </a:lnSpc>
            </a:pPr>
            <a:r>
              <a:rPr lang="en-US" sz="2400" dirty="0">
                <a:solidFill>
                  <a:srgbClr val="000000"/>
                </a:solidFill>
                <a:latin typeface="Poppins"/>
                <a:ea typeface="Poppins"/>
                <a:cs typeface="Poppins"/>
                <a:sym typeface="Poppins"/>
              </a:rPr>
              <a:t>The app may suggest safer routes, hotels, or activities depending on the traveler’s profile (solo, family, female, etc.).</a:t>
            </a:r>
          </a:p>
          <a:p>
            <a:pPr>
              <a:lnSpc>
                <a:spcPts val="2800"/>
              </a:lnSpc>
            </a:pPr>
            <a:endParaRPr lang="en-US" sz="2400" dirty="0">
              <a:solidFill>
                <a:srgbClr val="000000"/>
              </a:solidFill>
              <a:latin typeface="Poppins"/>
              <a:ea typeface="Poppins"/>
              <a:cs typeface="Poppins"/>
              <a:sym typeface="Poppins"/>
            </a:endParaRPr>
          </a:p>
          <a:p>
            <a:pPr>
              <a:lnSpc>
                <a:spcPts val="2800"/>
              </a:lnSpc>
            </a:pPr>
            <a:r>
              <a:rPr lang="en-US" sz="2400" dirty="0">
                <a:solidFill>
                  <a:srgbClr val="000000"/>
                </a:solidFill>
                <a:latin typeface="Poppins"/>
                <a:ea typeface="Poppins"/>
                <a:cs typeface="Poppins"/>
                <a:sym typeface="Poppins"/>
              </a:rPr>
              <a:t>‣Real-time safety</a:t>
            </a:r>
          </a:p>
          <a:p>
            <a:pPr>
              <a:lnSpc>
                <a:spcPts val="2800"/>
              </a:lnSpc>
            </a:pPr>
            <a:r>
              <a:rPr lang="en-US" sz="2400" dirty="0">
                <a:solidFill>
                  <a:srgbClr val="000000"/>
                </a:solidFill>
                <a:latin typeface="Poppins"/>
                <a:ea typeface="Poppins"/>
                <a:cs typeface="Poppins"/>
                <a:sym typeface="Poppins"/>
              </a:rPr>
              <a:t>‣Updates Location</a:t>
            </a:r>
          </a:p>
          <a:p>
            <a:pPr>
              <a:lnSpc>
                <a:spcPts val="2800"/>
              </a:lnSpc>
            </a:pPr>
            <a:r>
              <a:rPr lang="en-US" sz="2400" dirty="0">
                <a:solidFill>
                  <a:srgbClr val="000000"/>
                </a:solidFill>
                <a:latin typeface="Poppins"/>
                <a:ea typeface="Poppins"/>
                <a:cs typeface="Poppins"/>
                <a:sym typeface="Poppins"/>
              </a:rPr>
              <a:t>‣Safe zone alerts</a:t>
            </a:r>
          </a:p>
          <a:p>
            <a:pPr>
              <a:lnSpc>
                <a:spcPts val="2800"/>
              </a:lnSpc>
            </a:pPr>
            <a:r>
              <a:rPr lang="en-US" sz="2400" dirty="0">
                <a:solidFill>
                  <a:srgbClr val="000000"/>
                </a:solidFill>
                <a:latin typeface="Poppins"/>
                <a:ea typeface="Poppins"/>
                <a:cs typeface="Poppins"/>
                <a:sym typeface="Poppins"/>
              </a:rPr>
              <a:t>‣Emergency contact integration</a:t>
            </a:r>
          </a:p>
          <a:p>
            <a:pPr>
              <a:lnSpc>
                <a:spcPts val="2800"/>
              </a:lnSpc>
            </a:pPr>
            <a:r>
              <a:rPr lang="en-US" sz="2400" dirty="0">
                <a:solidFill>
                  <a:srgbClr val="000000"/>
                </a:solidFill>
                <a:latin typeface="Poppins"/>
                <a:ea typeface="Poppins"/>
                <a:cs typeface="Poppins"/>
                <a:sym typeface="Poppins"/>
              </a:rPr>
              <a:t>‣24/7 virtual travel assistant</a:t>
            </a:r>
          </a:p>
        </p:txBody>
      </p:sp>
    </p:spTree>
    <p:extLst>
      <p:ext uri="{BB962C8B-B14F-4D97-AF65-F5344CB8AC3E}">
        <p14:creationId xmlns:p14="http://schemas.microsoft.com/office/powerpoint/2010/main" val="1467238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14036" y="2976207"/>
            <a:ext cx="4610230" cy="9220461"/>
          </a:xfrm>
          <a:custGeom>
            <a:avLst/>
            <a:gdLst/>
            <a:ahLst/>
            <a:cxnLst/>
            <a:rect l="l" t="t" r="r" b="b"/>
            <a:pathLst>
              <a:path w="4610230" h="9220461">
                <a:moveTo>
                  <a:pt x="0" y="0"/>
                </a:moveTo>
                <a:lnTo>
                  <a:pt x="4610230" y="0"/>
                </a:lnTo>
                <a:lnTo>
                  <a:pt x="4610230" y="9220461"/>
                </a:lnTo>
                <a:lnTo>
                  <a:pt x="0" y="92204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2552669" y="-2308792"/>
            <a:ext cx="6010980" cy="6674984"/>
          </a:xfrm>
          <a:custGeom>
            <a:avLst/>
            <a:gdLst/>
            <a:ahLst/>
            <a:cxnLst/>
            <a:rect l="l" t="t" r="r" b="b"/>
            <a:pathLst>
              <a:path w="6010980" h="6674984">
                <a:moveTo>
                  <a:pt x="0" y="0"/>
                </a:moveTo>
                <a:lnTo>
                  <a:pt x="6010980" y="0"/>
                </a:lnTo>
                <a:lnTo>
                  <a:pt x="6010980" y="6674984"/>
                </a:lnTo>
                <a:lnTo>
                  <a:pt x="0" y="66749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1630465" y="-4902785"/>
            <a:ext cx="4166573" cy="8333147"/>
          </a:xfrm>
          <a:custGeom>
            <a:avLst/>
            <a:gdLst/>
            <a:ahLst/>
            <a:cxnLst/>
            <a:rect l="l" t="t" r="r" b="b"/>
            <a:pathLst>
              <a:path w="4166573" h="8333147">
                <a:moveTo>
                  <a:pt x="0" y="8333146"/>
                </a:moveTo>
                <a:lnTo>
                  <a:pt x="4166573" y="8333146"/>
                </a:lnTo>
                <a:lnTo>
                  <a:pt x="4166573" y="0"/>
                </a:lnTo>
                <a:lnTo>
                  <a:pt x="0" y="0"/>
                </a:lnTo>
                <a:lnTo>
                  <a:pt x="0" y="8333146"/>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4836126" y="4442298"/>
            <a:ext cx="821282" cy="82128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1F20"/>
            </a:solidFill>
          </p:spPr>
        </p:sp>
        <p:sp>
          <p:nvSpPr>
            <p:cNvPr id="9" name="TextBox 9"/>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grpSp>
        <p:nvGrpSpPr>
          <p:cNvPr id="10" name="Group 10"/>
          <p:cNvGrpSpPr/>
          <p:nvPr/>
        </p:nvGrpSpPr>
        <p:grpSpPr>
          <a:xfrm>
            <a:off x="4832629" y="8284245"/>
            <a:ext cx="821282" cy="82128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1F20"/>
            </a:solidFill>
          </p:spPr>
        </p:sp>
        <p:sp>
          <p:nvSpPr>
            <p:cNvPr id="12" name="TextBox 12"/>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grpSp>
        <p:nvGrpSpPr>
          <p:cNvPr id="13" name="Group 13"/>
          <p:cNvGrpSpPr/>
          <p:nvPr/>
        </p:nvGrpSpPr>
        <p:grpSpPr>
          <a:xfrm>
            <a:off x="4817461" y="2272737"/>
            <a:ext cx="821282" cy="82128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1F20"/>
            </a:solidFill>
          </p:spPr>
          <p:txBody>
            <a:bodyPr/>
            <a:lstStyle/>
            <a:p>
              <a:endParaRPr lang="en-IN" dirty="0"/>
            </a:p>
          </p:txBody>
        </p:sp>
        <p:sp>
          <p:nvSpPr>
            <p:cNvPr id="15" name="TextBox 15"/>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grpSp>
        <p:nvGrpSpPr>
          <p:cNvPr id="16" name="Group 16"/>
          <p:cNvGrpSpPr/>
          <p:nvPr/>
        </p:nvGrpSpPr>
        <p:grpSpPr>
          <a:xfrm>
            <a:off x="4836126" y="6456999"/>
            <a:ext cx="821282" cy="82128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1F20"/>
            </a:solidFill>
          </p:spPr>
        </p:sp>
        <p:sp>
          <p:nvSpPr>
            <p:cNvPr id="18" name="TextBox 18"/>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29" name="Freeform 29"/>
          <p:cNvSpPr/>
          <p:nvPr/>
        </p:nvSpPr>
        <p:spPr>
          <a:xfrm rot="1210923">
            <a:off x="14630400" y="1336027"/>
            <a:ext cx="7315200" cy="1263535"/>
          </a:xfrm>
          <a:custGeom>
            <a:avLst/>
            <a:gdLst/>
            <a:ahLst/>
            <a:cxnLst/>
            <a:rect l="l" t="t" r="r" b="b"/>
            <a:pathLst>
              <a:path w="7315200" h="1263535">
                <a:moveTo>
                  <a:pt x="0" y="0"/>
                </a:moveTo>
                <a:lnTo>
                  <a:pt x="7315200" y="0"/>
                </a:lnTo>
                <a:lnTo>
                  <a:pt x="7315200" y="1263535"/>
                </a:lnTo>
                <a:lnTo>
                  <a:pt x="0" y="12635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TextBox 31"/>
          <p:cNvSpPr txBox="1"/>
          <p:nvPr/>
        </p:nvSpPr>
        <p:spPr>
          <a:xfrm>
            <a:off x="4925793" y="2289467"/>
            <a:ext cx="660298" cy="701202"/>
          </a:xfrm>
          <a:prstGeom prst="rect">
            <a:avLst/>
          </a:prstGeom>
        </p:spPr>
        <p:txBody>
          <a:bodyPr lIns="0" tIns="0" rIns="0" bIns="0" rtlCol="0" anchor="t">
            <a:spAutoFit/>
          </a:bodyPr>
          <a:lstStyle/>
          <a:p>
            <a:pPr algn="ctr">
              <a:lnSpc>
                <a:spcPts val="5746"/>
              </a:lnSpc>
            </a:pPr>
            <a:r>
              <a:rPr lang="en-US" sz="4104" b="1" dirty="0">
                <a:solidFill>
                  <a:srgbClr val="FFF9EC"/>
                </a:solidFill>
                <a:latin typeface="Canva Sans Bold"/>
                <a:ea typeface="Canva Sans Bold"/>
                <a:cs typeface="Canva Sans Bold"/>
                <a:sym typeface="Canva Sans Bold"/>
              </a:rPr>
              <a:t>1</a:t>
            </a:r>
          </a:p>
        </p:txBody>
      </p:sp>
      <p:sp>
        <p:nvSpPr>
          <p:cNvPr id="32" name="TextBox 32"/>
          <p:cNvSpPr txBox="1"/>
          <p:nvPr/>
        </p:nvSpPr>
        <p:spPr>
          <a:xfrm>
            <a:off x="4913121" y="4442298"/>
            <a:ext cx="660298" cy="701202"/>
          </a:xfrm>
          <a:prstGeom prst="rect">
            <a:avLst/>
          </a:prstGeom>
        </p:spPr>
        <p:txBody>
          <a:bodyPr lIns="0" tIns="0" rIns="0" bIns="0" rtlCol="0" anchor="t">
            <a:spAutoFit/>
          </a:bodyPr>
          <a:lstStyle/>
          <a:p>
            <a:pPr algn="ctr">
              <a:lnSpc>
                <a:spcPts val="5746"/>
              </a:lnSpc>
            </a:pPr>
            <a:r>
              <a:rPr lang="en-US" sz="4104" b="1" dirty="0">
                <a:solidFill>
                  <a:srgbClr val="FFF9EC"/>
                </a:solidFill>
                <a:latin typeface="Canva Sans Bold"/>
                <a:ea typeface="Canva Sans Bold"/>
                <a:cs typeface="Canva Sans Bold"/>
                <a:sym typeface="Canva Sans Bold"/>
              </a:rPr>
              <a:t>2</a:t>
            </a:r>
          </a:p>
        </p:txBody>
      </p:sp>
      <p:sp>
        <p:nvSpPr>
          <p:cNvPr id="33" name="TextBox 33"/>
          <p:cNvSpPr txBox="1"/>
          <p:nvPr/>
        </p:nvSpPr>
        <p:spPr>
          <a:xfrm>
            <a:off x="4925793" y="6509708"/>
            <a:ext cx="660298" cy="701202"/>
          </a:xfrm>
          <a:prstGeom prst="rect">
            <a:avLst/>
          </a:prstGeom>
        </p:spPr>
        <p:txBody>
          <a:bodyPr lIns="0" tIns="0" rIns="0" bIns="0" rtlCol="0" anchor="t">
            <a:spAutoFit/>
          </a:bodyPr>
          <a:lstStyle/>
          <a:p>
            <a:pPr algn="ctr">
              <a:lnSpc>
                <a:spcPts val="5746"/>
              </a:lnSpc>
            </a:pPr>
            <a:r>
              <a:rPr lang="en-US" sz="4104" b="1" dirty="0">
                <a:solidFill>
                  <a:srgbClr val="FFF9EC"/>
                </a:solidFill>
                <a:latin typeface="Canva Sans Bold"/>
                <a:ea typeface="Canva Sans Bold"/>
                <a:cs typeface="Canva Sans Bold"/>
                <a:sym typeface="Canva Sans Bold"/>
              </a:rPr>
              <a:t>3</a:t>
            </a:r>
          </a:p>
        </p:txBody>
      </p:sp>
      <p:sp>
        <p:nvSpPr>
          <p:cNvPr id="34" name="TextBox 34"/>
          <p:cNvSpPr txBox="1"/>
          <p:nvPr/>
        </p:nvSpPr>
        <p:spPr>
          <a:xfrm>
            <a:off x="4897953" y="8284245"/>
            <a:ext cx="660298" cy="701202"/>
          </a:xfrm>
          <a:prstGeom prst="rect">
            <a:avLst/>
          </a:prstGeom>
        </p:spPr>
        <p:txBody>
          <a:bodyPr lIns="0" tIns="0" rIns="0" bIns="0" rtlCol="0" anchor="t">
            <a:spAutoFit/>
          </a:bodyPr>
          <a:lstStyle/>
          <a:p>
            <a:pPr algn="ctr">
              <a:lnSpc>
                <a:spcPts val="5746"/>
              </a:lnSpc>
            </a:pPr>
            <a:r>
              <a:rPr lang="en-US" sz="4104" b="1" dirty="0">
                <a:solidFill>
                  <a:srgbClr val="FFF9EC"/>
                </a:solidFill>
                <a:latin typeface="Canva Sans Bold"/>
                <a:ea typeface="Canva Sans Bold"/>
                <a:cs typeface="Canva Sans Bold"/>
                <a:sym typeface="Canva Sans Bold"/>
              </a:rPr>
              <a:t>4</a:t>
            </a:r>
          </a:p>
        </p:txBody>
      </p:sp>
      <p:sp>
        <p:nvSpPr>
          <p:cNvPr id="35" name="TextBox 34">
            <a:extLst>
              <a:ext uri="{FF2B5EF4-FFF2-40B4-BE49-F238E27FC236}">
                <a16:creationId xmlns:a16="http://schemas.microsoft.com/office/drawing/2014/main" id="{D048A517-B763-A5A7-B3A6-095E330C983D}"/>
              </a:ext>
            </a:extLst>
          </p:cNvPr>
          <p:cNvSpPr txBox="1"/>
          <p:nvPr/>
        </p:nvSpPr>
        <p:spPr>
          <a:xfrm>
            <a:off x="3768594" y="474702"/>
            <a:ext cx="10558134" cy="1107996"/>
          </a:xfrm>
          <a:prstGeom prst="rect">
            <a:avLst/>
          </a:prstGeom>
          <a:noFill/>
        </p:spPr>
        <p:txBody>
          <a:bodyPr wrap="square" rtlCol="0">
            <a:spAutoFit/>
          </a:bodyPr>
          <a:lstStyle/>
          <a:p>
            <a:r>
              <a:rPr lang="en-US" sz="6600" dirty="0">
                <a:latin typeface="Bodoni MT" panose="02070603080606020203" pitchFamily="18" charset="0"/>
              </a:rPr>
              <a:t>TECHNICAL APPROACH</a:t>
            </a:r>
            <a:endParaRPr lang="en-IN" sz="6600" dirty="0">
              <a:latin typeface="Bodoni MT" panose="02070603080606020203" pitchFamily="18" charset="0"/>
            </a:endParaRPr>
          </a:p>
        </p:txBody>
      </p:sp>
      <p:sp>
        <p:nvSpPr>
          <p:cNvPr id="36" name="TextBox 35">
            <a:extLst>
              <a:ext uri="{FF2B5EF4-FFF2-40B4-BE49-F238E27FC236}">
                <a16:creationId xmlns:a16="http://schemas.microsoft.com/office/drawing/2014/main" id="{FD5E2C89-F057-BEAD-89D2-FDF6FDC76FF2}"/>
              </a:ext>
            </a:extLst>
          </p:cNvPr>
          <p:cNvSpPr txBox="1"/>
          <p:nvPr/>
        </p:nvSpPr>
        <p:spPr>
          <a:xfrm>
            <a:off x="5896373" y="1985678"/>
            <a:ext cx="8382000" cy="1261884"/>
          </a:xfrm>
          <a:prstGeom prst="rect">
            <a:avLst/>
          </a:prstGeom>
          <a:noFill/>
        </p:spPr>
        <p:txBody>
          <a:bodyPr wrap="square" rtlCol="0">
            <a:spAutoFit/>
          </a:bodyPr>
          <a:lstStyle/>
          <a:p>
            <a:r>
              <a:rPr lang="en-US" sz="4000" dirty="0">
                <a:latin typeface="Bodoni MT" panose="02070603080606020203" pitchFamily="18" charset="0"/>
              </a:rPr>
              <a:t>Architecture Overview</a:t>
            </a:r>
          </a:p>
          <a:p>
            <a:r>
              <a:rPr lang="en-US" dirty="0">
                <a:latin typeface="Bodoni MT" panose="02070603080606020203" pitchFamily="18" charset="0"/>
              </a:rPr>
              <a:t>Single page application(SPA)</a:t>
            </a:r>
          </a:p>
          <a:p>
            <a:r>
              <a:rPr lang="en-US" dirty="0">
                <a:latin typeface="Bodoni MT" panose="02070603080606020203" pitchFamily="18" charset="0"/>
              </a:rPr>
              <a:t>Hosting can be deployed on static hosting(GitHub pages)</a:t>
            </a:r>
            <a:endParaRPr lang="en-IN" dirty="0">
              <a:latin typeface="Bodoni MT" panose="02070603080606020203" pitchFamily="18" charset="0"/>
            </a:endParaRPr>
          </a:p>
        </p:txBody>
      </p:sp>
      <p:sp>
        <p:nvSpPr>
          <p:cNvPr id="43" name="TextBox 42">
            <a:extLst>
              <a:ext uri="{FF2B5EF4-FFF2-40B4-BE49-F238E27FC236}">
                <a16:creationId xmlns:a16="http://schemas.microsoft.com/office/drawing/2014/main" id="{5D1B17B0-956E-19A4-EF30-DF1EA570F5AA}"/>
              </a:ext>
            </a:extLst>
          </p:cNvPr>
          <p:cNvSpPr txBox="1"/>
          <p:nvPr/>
        </p:nvSpPr>
        <p:spPr>
          <a:xfrm>
            <a:off x="5870710" y="4012806"/>
            <a:ext cx="7540490" cy="1538883"/>
          </a:xfrm>
          <a:prstGeom prst="rect">
            <a:avLst/>
          </a:prstGeom>
          <a:noFill/>
        </p:spPr>
        <p:txBody>
          <a:bodyPr wrap="square" rtlCol="0">
            <a:spAutoFit/>
          </a:bodyPr>
          <a:lstStyle/>
          <a:p>
            <a:r>
              <a:rPr lang="en-US" sz="4000" dirty="0">
                <a:latin typeface="Bodoni MT" panose="02070603080606020203" pitchFamily="18" charset="0"/>
              </a:rPr>
              <a:t>Frontend stack</a:t>
            </a:r>
          </a:p>
          <a:p>
            <a:r>
              <a:rPr lang="en-US" dirty="0">
                <a:latin typeface="Bodoni MT" panose="02070603080606020203" pitchFamily="18" charset="0"/>
              </a:rPr>
              <a:t>HTML 5 : Structure and Semantic Markup</a:t>
            </a:r>
          </a:p>
          <a:p>
            <a:r>
              <a:rPr lang="en-US" dirty="0">
                <a:latin typeface="Bodoni MT" panose="02070603080606020203" pitchFamily="18" charset="0"/>
              </a:rPr>
              <a:t>CSS 3 : Styling , Animation , Responsive Design</a:t>
            </a:r>
          </a:p>
          <a:p>
            <a:r>
              <a:rPr lang="en-US" dirty="0">
                <a:latin typeface="Bodoni MT" panose="02070603080606020203" pitchFamily="18" charset="0"/>
              </a:rPr>
              <a:t>Vanilla JavaScript : Client-side Logic &amp; Interactivity</a:t>
            </a:r>
            <a:endParaRPr lang="en-IN" dirty="0">
              <a:latin typeface="Bodoni MT" panose="02070603080606020203" pitchFamily="18" charset="0"/>
            </a:endParaRPr>
          </a:p>
        </p:txBody>
      </p:sp>
      <p:sp>
        <p:nvSpPr>
          <p:cNvPr id="45" name="TextBox 44">
            <a:extLst>
              <a:ext uri="{FF2B5EF4-FFF2-40B4-BE49-F238E27FC236}">
                <a16:creationId xmlns:a16="http://schemas.microsoft.com/office/drawing/2014/main" id="{EDA8A68D-574D-896F-4BD0-E96EA591B948}"/>
              </a:ext>
            </a:extLst>
          </p:cNvPr>
          <p:cNvSpPr txBox="1"/>
          <p:nvPr/>
        </p:nvSpPr>
        <p:spPr>
          <a:xfrm>
            <a:off x="5870710" y="6316933"/>
            <a:ext cx="7086600" cy="1261884"/>
          </a:xfrm>
          <a:prstGeom prst="rect">
            <a:avLst/>
          </a:prstGeom>
          <a:noFill/>
        </p:spPr>
        <p:txBody>
          <a:bodyPr wrap="square" rtlCol="0">
            <a:spAutoFit/>
          </a:bodyPr>
          <a:lstStyle/>
          <a:p>
            <a:r>
              <a:rPr lang="en-US" sz="4000" dirty="0">
                <a:latin typeface="Bodoni MT" panose="02070603080606020203" pitchFamily="18" charset="0"/>
              </a:rPr>
              <a:t>Data Storage</a:t>
            </a:r>
          </a:p>
          <a:p>
            <a:r>
              <a:rPr lang="en-US" dirty="0">
                <a:latin typeface="Bodoni MT" panose="02070603080606020203" pitchFamily="18" charset="0"/>
              </a:rPr>
              <a:t>Browser local storage: persist user session data locally</a:t>
            </a:r>
          </a:p>
          <a:p>
            <a:r>
              <a:rPr lang="en-US" dirty="0">
                <a:latin typeface="Bodoni MT" panose="02070603080606020203" pitchFamily="18" charset="0"/>
              </a:rPr>
              <a:t>Static JavaScript Dataset: hard coded dataset of places </a:t>
            </a:r>
            <a:endParaRPr lang="en-IN" dirty="0">
              <a:latin typeface="Bodoni MT" panose="02070603080606020203" pitchFamily="18" charset="0"/>
            </a:endParaRPr>
          </a:p>
        </p:txBody>
      </p:sp>
      <p:sp>
        <p:nvSpPr>
          <p:cNvPr id="46" name="TextBox 45">
            <a:extLst>
              <a:ext uri="{FF2B5EF4-FFF2-40B4-BE49-F238E27FC236}">
                <a16:creationId xmlns:a16="http://schemas.microsoft.com/office/drawing/2014/main" id="{553E6294-449F-5919-4174-1C778EB9544B}"/>
              </a:ext>
            </a:extLst>
          </p:cNvPr>
          <p:cNvSpPr txBox="1"/>
          <p:nvPr/>
        </p:nvSpPr>
        <p:spPr>
          <a:xfrm>
            <a:off x="5870710" y="8284245"/>
            <a:ext cx="7540490" cy="1538883"/>
          </a:xfrm>
          <a:prstGeom prst="rect">
            <a:avLst/>
          </a:prstGeom>
          <a:noFill/>
        </p:spPr>
        <p:txBody>
          <a:bodyPr wrap="square" rtlCol="0">
            <a:spAutoFit/>
          </a:bodyPr>
          <a:lstStyle/>
          <a:p>
            <a:r>
              <a:rPr lang="en-US" sz="4000" dirty="0">
                <a:latin typeface="Bodoni MT" panose="02070603080606020203" pitchFamily="18" charset="0"/>
              </a:rPr>
              <a:t>External APIs Used</a:t>
            </a:r>
          </a:p>
          <a:p>
            <a:r>
              <a:rPr lang="en-US" dirty="0">
                <a:latin typeface="Bodoni MT" panose="02070603080606020203" pitchFamily="18" charset="0"/>
              </a:rPr>
              <a:t>OpenStreetMap</a:t>
            </a:r>
          </a:p>
          <a:p>
            <a:r>
              <a:rPr lang="en-US" dirty="0">
                <a:latin typeface="Bodoni MT" panose="02070603080606020203" pitchFamily="18" charset="0"/>
              </a:rPr>
              <a:t>Ipapi.co</a:t>
            </a:r>
          </a:p>
          <a:p>
            <a:r>
              <a:rPr lang="en-US" dirty="0">
                <a:latin typeface="Bodoni MT" panose="02070603080606020203" pitchFamily="18" charset="0"/>
              </a:rPr>
              <a:t>Google maps embed API</a:t>
            </a:r>
            <a:endParaRPr lang="en-IN" dirty="0">
              <a:latin typeface="Bodoni MT" panose="02070603080606020203"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EC"/>
        </a:solidFill>
        <a:effectLst/>
      </p:bgPr>
    </p:bg>
    <p:spTree>
      <p:nvGrpSpPr>
        <p:cNvPr id="1" name=""/>
        <p:cNvGrpSpPr/>
        <p:nvPr/>
      </p:nvGrpSpPr>
      <p:grpSpPr>
        <a:xfrm>
          <a:off x="0" y="0"/>
          <a:ext cx="0" cy="0"/>
          <a:chOff x="0" y="0"/>
          <a:chExt cx="0" cy="0"/>
        </a:xfrm>
      </p:grpSpPr>
      <p:grpSp>
        <p:nvGrpSpPr>
          <p:cNvPr id="2" name="Group 2"/>
          <p:cNvGrpSpPr/>
          <p:nvPr/>
        </p:nvGrpSpPr>
        <p:grpSpPr>
          <a:xfrm>
            <a:off x="7464428" y="3319006"/>
            <a:ext cx="13333957" cy="8819920"/>
            <a:chOff x="0" y="0"/>
            <a:chExt cx="3511824" cy="2322942"/>
          </a:xfrm>
        </p:grpSpPr>
        <p:sp>
          <p:nvSpPr>
            <p:cNvPr id="3" name="Freeform 3"/>
            <p:cNvSpPr/>
            <p:nvPr/>
          </p:nvSpPr>
          <p:spPr>
            <a:xfrm>
              <a:off x="0" y="0"/>
              <a:ext cx="3511824" cy="2322942"/>
            </a:xfrm>
            <a:custGeom>
              <a:avLst/>
              <a:gdLst/>
              <a:ahLst/>
              <a:cxnLst/>
              <a:rect l="l" t="t" r="r" b="b"/>
              <a:pathLst>
                <a:path w="3511824" h="2322942">
                  <a:moveTo>
                    <a:pt x="12774" y="0"/>
                  </a:moveTo>
                  <a:lnTo>
                    <a:pt x="3499050" y="0"/>
                  </a:lnTo>
                  <a:cubicBezTo>
                    <a:pt x="3502438" y="0"/>
                    <a:pt x="3505687" y="1346"/>
                    <a:pt x="3508083" y="3741"/>
                  </a:cubicBezTo>
                  <a:cubicBezTo>
                    <a:pt x="3510478" y="6137"/>
                    <a:pt x="3511824" y="9386"/>
                    <a:pt x="3511824" y="12774"/>
                  </a:cubicBezTo>
                  <a:lnTo>
                    <a:pt x="3511824" y="2310168"/>
                  </a:lnTo>
                  <a:cubicBezTo>
                    <a:pt x="3511824" y="2313556"/>
                    <a:pt x="3510478" y="2316805"/>
                    <a:pt x="3508083" y="2319201"/>
                  </a:cubicBezTo>
                  <a:cubicBezTo>
                    <a:pt x="3505687" y="2321596"/>
                    <a:pt x="3502438" y="2322942"/>
                    <a:pt x="3499050" y="2322942"/>
                  </a:cubicBezTo>
                  <a:lnTo>
                    <a:pt x="12774" y="2322942"/>
                  </a:lnTo>
                  <a:cubicBezTo>
                    <a:pt x="9386" y="2322942"/>
                    <a:pt x="6137" y="2321596"/>
                    <a:pt x="3741" y="2319201"/>
                  </a:cubicBezTo>
                  <a:cubicBezTo>
                    <a:pt x="1346" y="2316805"/>
                    <a:pt x="0" y="2313556"/>
                    <a:pt x="0" y="2310168"/>
                  </a:cubicBezTo>
                  <a:lnTo>
                    <a:pt x="0" y="12774"/>
                  </a:lnTo>
                  <a:cubicBezTo>
                    <a:pt x="0" y="9386"/>
                    <a:pt x="1346" y="6137"/>
                    <a:pt x="3741" y="3741"/>
                  </a:cubicBezTo>
                  <a:cubicBezTo>
                    <a:pt x="6137" y="1346"/>
                    <a:pt x="9386" y="0"/>
                    <a:pt x="12774" y="0"/>
                  </a:cubicBezTo>
                  <a:close/>
                </a:path>
              </a:pathLst>
            </a:custGeom>
            <a:solidFill>
              <a:srgbClr val="EBC43A"/>
            </a:solidFill>
          </p:spPr>
        </p:sp>
        <p:sp>
          <p:nvSpPr>
            <p:cNvPr id="4" name="TextBox 4"/>
            <p:cNvSpPr txBox="1"/>
            <p:nvPr/>
          </p:nvSpPr>
          <p:spPr>
            <a:xfrm>
              <a:off x="0" y="-66675"/>
              <a:ext cx="3511824" cy="2389617"/>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rot="-10800000">
            <a:off x="-1211115" y="-789689"/>
            <a:ext cx="4479631" cy="4974474"/>
          </a:xfrm>
          <a:custGeom>
            <a:avLst/>
            <a:gdLst/>
            <a:ahLst/>
            <a:cxnLst/>
            <a:rect l="l" t="t" r="r" b="b"/>
            <a:pathLst>
              <a:path w="4479631" h="4974474">
                <a:moveTo>
                  <a:pt x="0" y="0"/>
                </a:moveTo>
                <a:lnTo>
                  <a:pt x="4479630" y="0"/>
                </a:lnTo>
                <a:lnTo>
                  <a:pt x="4479630" y="4974474"/>
                </a:lnTo>
                <a:lnTo>
                  <a:pt x="0" y="49744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V="1">
            <a:off x="-638848" y="-2891199"/>
            <a:ext cx="3105103" cy="6210205"/>
          </a:xfrm>
          <a:custGeom>
            <a:avLst/>
            <a:gdLst/>
            <a:ahLst/>
            <a:cxnLst/>
            <a:rect l="l" t="t" r="r" b="b"/>
            <a:pathLst>
              <a:path w="3105103" h="6210205">
                <a:moveTo>
                  <a:pt x="0" y="6210205"/>
                </a:moveTo>
                <a:lnTo>
                  <a:pt x="3105103" y="6210205"/>
                </a:lnTo>
                <a:lnTo>
                  <a:pt x="3105103" y="0"/>
                </a:lnTo>
                <a:lnTo>
                  <a:pt x="0" y="0"/>
                </a:lnTo>
                <a:lnTo>
                  <a:pt x="0" y="621020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7924801" y="3681515"/>
            <a:ext cx="4876799" cy="2043893"/>
          </a:xfrm>
          <a:prstGeom prst="rect">
            <a:avLst/>
          </a:prstGeom>
        </p:spPr>
        <p:txBody>
          <a:bodyPr wrap="square" lIns="0" tIns="0" rIns="0" bIns="0" rtlCol="0" anchor="t">
            <a:spAutoFit/>
          </a:bodyPr>
          <a:lstStyle/>
          <a:p>
            <a:pPr algn="just">
              <a:lnSpc>
                <a:spcPts val="8160"/>
              </a:lnSpc>
            </a:pPr>
            <a:r>
              <a:rPr lang="en-US" sz="6800" b="1" dirty="0">
                <a:solidFill>
                  <a:srgbClr val="0B0A0A"/>
                </a:solidFill>
                <a:latin typeface="Rockwell" panose="02060603020205020403" pitchFamily="18" charset="0"/>
                <a:ea typeface="Agrandir Bold"/>
                <a:cs typeface="Agrandir Bold"/>
                <a:sym typeface="Agrandir Bold"/>
              </a:rPr>
              <a:t>Thank You</a:t>
            </a:r>
          </a:p>
          <a:p>
            <a:pPr algn="just">
              <a:lnSpc>
                <a:spcPts val="8160"/>
              </a:lnSpc>
            </a:pPr>
            <a:r>
              <a:rPr lang="en-US" sz="6800" b="1" dirty="0">
                <a:solidFill>
                  <a:srgbClr val="0B0A0A"/>
                </a:solidFill>
                <a:latin typeface="Rockwell" panose="02060603020205020403" pitchFamily="18" charset="0"/>
                <a:ea typeface="Agrandir Bold"/>
                <a:cs typeface="Agrandir Bold"/>
                <a:sym typeface="Agrandir Bold"/>
              </a:rPr>
              <a:t>Very Much</a:t>
            </a:r>
          </a:p>
        </p:txBody>
      </p:sp>
      <p:sp>
        <p:nvSpPr>
          <p:cNvPr id="13" name="TextBox 13"/>
          <p:cNvSpPr txBox="1"/>
          <p:nvPr/>
        </p:nvSpPr>
        <p:spPr>
          <a:xfrm>
            <a:off x="9654411" y="2085297"/>
            <a:ext cx="4168443" cy="843991"/>
          </a:xfrm>
          <a:prstGeom prst="rect">
            <a:avLst/>
          </a:prstGeom>
        </p:spPr>
        <p:txBody>
          <a:bodyPr lIns="0" tIns="0" rIns="0" bIns="0" rtlCol="0" anchor="t">
            <a:spAutoFit/>
          </a:bodyPr>
          <a:lstStyle/>
          <a:p>
            <a:pPr marL="0" lvl="0" indent="0" algn="l">
              <a:lnSpc>
                <a:spcPts val="3357"/>
              </a:lnSpc>
              <a:spcBef>
                <a:spcPct val="0"/>
              </a:spcBef>
            </a:pPr>
            <a:r>
              <a:rPr lang="en-US" sz="2398" b="1" spc="-47">
                <a:solidFill>
                  <a:srgbClr val="0B0A0A"/>
                </a:solidFill>
                <a:latin typeface="Poppins Bold"/>
                <a:ea typeface="Poppins Bold"/>
                <a:cs typeface="Poppins Bold"/>
                <a:sym typeface="Poppins Bold"/>
              </a:rPr>
              <a:t>Let your memories live beyond the moment.</a:t>
            </a:r>
          </a:p>
        </p:txBody>
      </p:sp>
      <p:sp>
        <p:nvSpPr>
          <p:cNvPr id="14" name="TextBox 14"/>
          <p:cNvSpPr txBox="1"/>
          <p:nvPr/>
        </p:nvSpPr>
        <p:spPr>
          <a:xfrm>
            <a:off x="2676272" y="6452870"/>
            <a:ext cx="3055358" cy="424815"/>
          </a:xfrm>
          <a:prstGeom prst="rect">
            <a:avLst/>
          </a:prstGeom>
        </p:spPr>
        <p:txBody>
          <a:bodyPr lIns="0" tIns="0" rIns="0" bIns="0" rtlCol="0" anchor="t">
            <a:spAutoFit/>
          </a:bodyPr>
          <a:lstStyle/>
          <a:p>
            <a:pPr algn="l">
              <a:lnSpc>
                <a:spcPts val="3359"/>
              </a:lnSpc>
            </a:pPr>
            <a:endParaRPr lang="en-US" sz="2400" b="1" dirty="0">
              <a:solidFill>
                <a:srgbClr val="0B0A0A"/>
              </a:solidFill>
              <a:latin typeface="Poppins Medium"/>
              <a:ea typeface="Poppins Medium"/>
              <a:cs typeface="Poppins Medium"/>
              <a:sym typeface="Poppins Medium"/>
            </a:endParaRPr>
          </a:p>
        </p:txBody>
      </p:sp>
      <p:sp>
        <p:nvSpPr>
          <p:cNvPr id="15" name="TextBox 15"/>
          <p:cNvSpPr txBox="1"/>
          <p:nvPr/>
        </p:nvSpPr>
        <p:spPr>
          <a:xfrm>
            <a:off x="2669215" y="7182759"/>
            <a:ext cx="3538566" cy="424815"/>
          </a:xfrm>
          <a:prstGeom prst="rect">
            <a:avLst/>
          </a:prstGeom>
        </p:spPr>
        <p:txBody>
          <a:bodyPr lIns="0" tIns="0" rIns="0" bIns="0" rtlCol="0" anchor="t">
            <a:spAutoFit/>
          </a:bodyPr>
          <a:lstStyle/>
          <a:p>
            <a:pPr marL="0" lvl="1" indent="0" algn="l">
              <a:lnSpc>
                <a:spcPts val="3359"/>
              </a:lnSpc>
              <a:spcBef>
                <a:spcPct val="0"/>
              </a:spcBef>
            </a:pPr>
            <a:endParaRPr lang="en-US" sz="2400" b="1" u="none" strike="noStrike" dirty="0">
              <a:solidFill>
                <a:srgbClr val="0B0A0A"/>
              </a:solidFill>
              <a:latin typeface="Poppins Medium"/>
              <a:ea typeface="Poppins Medium"/>
              <a:cs typeface="Poppins Medium"/>
              <a:sym typeface="Poppins Medium"/>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540</TotalTime>
  <Words>533</Words>
  <Application>Microsoft Office PowerPoint</Application>
  <PresentationFormat>Custom</PresentationFormat>
  <Paragraphs>77</Paragraphs>
  <Slides>8</Slides>
  <Notes>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8</vt:i4>
      </vt:variant>
    </vt:vector>
  </HeadingPairs>
  <TitlesOfParts>
    <vt:vector size="26" baseType="lpstr">
      <vt:lpstr>Poppins Bold</vt:lpstr>
      <vt:lpstr>Arial Rounded MT Bold</vt:lpstr>
      <vt:lpstr>Calibri</vt:lpstr>
      <vt:lpstr>Bodoni MT</vt:lpstr>
      <vt:lpstr>Arial</vt:lpstr>
      <vt:lpstr>Canva Sans Bold</vt:lpstr>
      <vt:lpstr>Poppins</vt:lpstr>
      <vt:lpstr>Maiandra GD</vt:lpstr>
      <vt:lpstr>Algerian</vt:lpstr>
      <vt:lpstr>Agrandir Bold</vt:lpstr>
      <vt:lpstr>Engravers MT</vt:lpstr>
      <vt:lpstr>Perpetua Titling MT</vt:lpstr>
      <vt:lpstr>Poppins Medium</vt:lpstr>
      <vt:lpstr>Aptos</vt:lpstr>
      <vt:lpstr>Franklin Gothic Demi</vt:lpstr>
      <vt:lpstr>Californian FB</vt:lpstr>
      <vt:lpstr>Rockwell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Beige and Black Simple Pitch Deck Presentation</dc:title>
  <cp:lastModifiedBy>Abhinav rao Polusani</cp:lastModifiedBy>
  <cp:revision>7</cp:revision>
  <dcterms:created xsi:type="dcterms:W3CDTF">2006-08-16T00:00:00Z</dcterms:created>
  <dcterms:modified xsi:type="dcterms:W3CDTF">2025-11-08T08:20:21Z</dcterms:modified>
  <dc:identifier>DAG37jDchEA</dc:identifier>
</cp:coreProperties>
</file>